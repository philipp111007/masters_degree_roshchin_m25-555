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EE681-5E0D-BD63-D15C-786AA21B08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8754-D4EF-B75C-090A-790B2C150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F513D-CA60-78FC-D030-9AA91786C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92C7A-BF6F-7C2F-47DB-877391EA6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0C829-EB2E-5F01-EA1E-1E17A5DD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4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05FC-AA60-7AA1-D9C6-D23D10E5E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DF24-823B-28C2-E1F4-608F942E7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BA5BC-452A-87C6-A947-4EA76B163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2B675-2A9F-8650-377B-BC3B283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C0C39-2DB1-7F1B-C1AE-542EA3E3C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D7A4-8210-7A75-F88A-13D8A990B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D17FD-DF42-B97D-0E46-4D650B06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2A90E-0FE5-6E25-1FB6-BA9EBA78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456A6-EE16-A95E-DB08-F01FC6BB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A653A-72C0-9433-A930-6CD18DD9E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6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16B0-5A84-93ED-82B9-0D9B7B1B2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0318B-DC8C-6D38-0487-5C0E78F8D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CAF71-60BE-9426-10C7-0326FD6B5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387E6-AE6E-07AB-93AC-399D8F8A7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C7BEB-C37D-B75B-2862-598B42F57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3B0554-A1F6-0390-7BA0-C26695ED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88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31CA8-031A-6094-9722-4C3B81D1C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2EC21-5B78-9826-018E-0D4D3E611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F4A79-04A6-D0A1-D106-CD6BB897F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73ECB5-92FE-4418-878D-9D2EEF77E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FE5409-814B-5B27-908B-E5EE377B81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B9A59-8C81-ED5B-5AAB-889D898B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CC451-71DB-3A47-B477-0EA9EBFAA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FC22E-6AA8-AE01-B298-5B4550AE0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4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2A2EC-8E5D-60A3-7BA9-04460F76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AB77A8-DC83-71C4-2AF0-FB9D8F76F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4AF62-E386-665C-3F14-659E9E63D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85D04-F778-29E5-4D36-1E60A8A8F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2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41B88-1235-4EB6-66EA-C57DEF223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5EB61-0EB3-1F38-6B49-2B46263F5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F05FC-421D-FA74-FF92-43D9601A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35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ED7C-E957-970A-D23C-153882B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783E-EF81-1883-B2DA-00B253B40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B4839-E17F-780D-B977-776D4199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83E8D-A55E-1365-1091-9F8A6CD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738FA-CA04-7F31-28BA-162260C75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A0F7A-5801-EE0B-D385-E3685D9C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87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D885B-B0CB-43F2-422D-00D318042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2302F9-1C33-FAED-4FC9-DA0C3BFFF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4F3656-910C-0BBB-CC67-6C5F64F35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49BB16-6CF1-C3EA-50F7-B2122CA8D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9DE4E1-4A72-DF38-7635-FC3A9B569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E9553-FB49-2A6E-9665-C73AF21B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73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8E1B3-A982-FDAF-7A7C-2B2655596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ECEC66-8604-1BFF-5C03-D3EB90C22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EA7F7-2A96-B1E9-DA05-C54B88AFD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0A29C-49F3-7730-C55B-0BD231AC3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8102-9F11-FF39-8C9D-E66EA411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684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A448-0510-F8AA-492F-ED11B54FFE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0979C5-151C-5ED3-F6FB-376593B56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31CF4-89C0-0C84-346A-3B321306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35BEF-722E-B81C-26E0-9583A13C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21618-3CC8-C485-B37C-9740C64F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7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49C4DF-AE38-1FE4-015F-BE95B22A9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F55C7-D452-1A08-9EDE-50071E74D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14215-24E1-24BB-FF05-D1744F3E2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7635D-5716-2149-87AF-1F135607E50F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E9AE6-2DF1-A399-DC2B-D68F14EEBD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37CFF-9322-CA8F-DA13-2051C38F7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510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49F-7475-0FE2-24C2-C6524B291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0320"/>
            <a:ext cx="9144000" cy="3806989"/>
          </a:xfrm>
        </p:spPr>
        <p:txBody>
          <a:bodyPr>
            <a:normAutofit/>
          </a:bodyPr>
          <a:lstStyle/>
          <a:p>
            <a:r>
              <a:rPr lang="ru-RU" b="1" dirty="0"/>
              <a:t>Рынок заведений общественного питания Москвы</a:t>
            </a:r>
            <a:br>
              <a:rPr lang="ru-RU" b="1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B90D2-21D1-BED5-645D-D3D681FCE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0" y="5989638"/>
            <a:ext cx="4572000" cy="591590"/>
          </a:xfrm>
        </p:spPr>
        <p:txBody>
          <a:bodyPr/>
          <a:lstStyle/>
          <a:p>
            <a:r>
              <a:rPr lang="ru-RU" dirty="0"/>
              <a:t>Рощин Филипп Андреевич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86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F0CC4-133F-5E42-252E-38277450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МЕТРИКИ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CE304-5A65-A9BA-5444-B7F449C1C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Общее количество заведений: 8406</a:t>
            </a:r>
          </a:p>
          <a:p>
            <a:r>
              <a:rPr lang="ru-RU" dirty="0"/>
              <a:t>Количество категорий: 8</a:t>
            </a:r>
          </a:p>
          <a:p>
            <a:r>
              <a:rPr lang="ru-RU" dirty="0"/>
              <a:t>Количество районов: 9</a:t>
            </a:r>
          </a:p>
          <a:p>
            <a:r>
              <a:rPr lang="ru-RU" dirty="0"/>
              <a:t>Доля сетевых заведений: 38.1%</a:t>
            </a:r>
          </a:p>
          <a:p>
            <a:r>
              <a:rPr lang="ru-RU" dirty="0"/>
              <a:t>Средний рейтинг: 4.23</a:t>
            </a:r>
          </a:p>
          <a:p>
            <a:r>
              <a:rPr lang="ru-RU" dirty="0"/>
              <a:t>Количество кофеен: 1413</a:t>
            </a:r>
          </a:p>
          <a:p>
            <a:r>
              <a:rPr lang="ru-RU" dirty="0"/>
              <a:t>Доля круглосуточных заведений: 13.5%</a:t>
            </a:r>
          </a:p>
          <a:p>
            <a:r>
              <a:rPr lang="ru-RU" dirty="0"/>
              <a:t>Среднее количество мест: 108 </a:t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898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F646E-33BD-04F3-8837-579188A6B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КАТЕГОРИЙ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513FC-4206-D33B-53FE-7DE2D12A4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кафе: 2378 заведений (28.3%)</a:t>
            </a:r>
          </a:p>
          <a:p>
            <a:r>
              <a:rPr lang="ru-RU" dirty="0"/>
              <a:t>2. ресторан: 2043 заведений (24.3%)</a:t>
            </a:r>
          </a:p>
          <a:p>
            <a:r>
              <a:rPr lang="ru-RU" dirty="0"/>
              <a:t>3. кофейня: 1413 заведений (16.8%)</a:t>
            </a:r>
          </a:p>
          <a:p>
            <a:r>
              <a:rPr lang="ru-RU" dirty="0"/>
              <a:t>4. </a:t>
            </a:r>
            <a:r>
              <a:rPr lang="ru-RU" dirty="0" err="1"/>
              <a:t>бар,паб</a:t>
            </a:r>
            <a:r>
              <a:rPr lang="ru-RU" dirty="0"/>
              <a:t>: 765 заведений (9.1%)</a:t>
            </a:r>
          </a:p>
          <a:p>
            <a:r>
              <a:rPr lang="ru-RU" dirty="0"/>
              <a:t>5. пиццерия: 633 заведений (7.5%)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080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3B505-7998-DB26-3D32-2A4205F6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РАЙОНОВ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86C4-680E-2F6E-6918-86D8EDBCC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Центральный административный округ: 2242</a:t>
            </a:r>
          </a:p>
          <a:p>
            <a:r>
              <a:rPr lang="ru-RU" dirty="0"/>
              <a:t>заведений 2. Северный административный округ: 900 заведений</a:t>
            </a:r>
          </a:p>
          <a:p>
            <a:r>
              <a:rPr lang="ru-RU" dirty="0"/>
              <a:t>3. Южный административный округ: 892 заведений</a:t>
            </a:r>
          </a:p>
          <a:p>
            <a:r>
              <a:rPr lang="ru-RU" dirty="0"/>
              <a:t>4. Северо-Восточный административный округ: 891 заведений</a:t>
            </a:r>
          </a:p>
          <a:p>
            <a:r>
              <a:rPr lang="ru-RU" dirty="0"/>
              <a:t>5. Западный административный округ: 851 заведений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4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3312-079B-DB28-3CC9-491CAA272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ДЛЯ КОФЕЕН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E6497-4A9C-DAE8-9C84-297DF3003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Средняя цена капучино: 175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Медианная цена капучино: 170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Средний рейтинг кофеен: 4.28</a:t>
            </a:r>
          </a:p>
          <a:p>
            <a:r>
              <a:rPr lang="ru-RU" dirty="0"/>
              <a:t>Доля сетевых кофеен: 51.0%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604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00E814-FCA0-8A68-AD3B-F872736EE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61" y="1038831"/>
            <a:ext cx="11789403" cy="46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097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9E531-FC18-6DC9-344B-6E25C062D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61" y="1382400"/>
            <a:ext cx="11780077" cy="43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49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B99E-240E-BA97-0F4A-C331A5B56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Детальный анализ рынка кофеен Москвы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50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F757F8BD-E723-7E59-B49C-A84979D75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61" y="1341535"/>
            <a:ext cx="11559878" cy="4174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11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02B6CC3-BBE5-000B-8405-179A0C3A9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24" y="997767"/>
            <a:ext cx="10727952" cy="486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90438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3FE05-BBA7-ADDD-3C0A-B6DA4DFF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ОСНОВНЫЕ 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8946C-5DE9-CF75-B402-67DC1018C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Рынок общественного питания Москвы разнообразен и конкурентен.</a:t>
            </a:r>
          </a:p>
          <a:p>
            <a:r>
              <a:rPr lang="ru-RU" dirty="0"/>
              <a:t>2. Наибольшую долю занимают кафе, рестораны и кофейни.</a:t>
            </a:r>
          </a:p>
          <a:p>
            <a:r>
              <a:rPr lang="ru-RU" dirty="0"/>
              <a:t>3. Центральные районы имеют наибольшую концентрацию заведений.</a:t>
            </a:r>
          </a:p>
          <a:p>
            <a:r>
              <a:rPr lang="ru-RU" dirty="0"/>
              <a:t>4. Цены значительно варьируются в зависимости от района и категории.</a:t>
            </a:r>
          </a:p>
          <a:p>
            <a:r>
              <a:rPr lang="ru-RU" dirty="0"/>
              <a:t>5. Сетевые заведения составляют значительную часть рынка.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2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B907E-BF48-8E50-35F6-5EEC58A7E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РЕКОМЕНДАЦИИ ДЛЯ ИНВЕСТОРОВ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975A1-EE33-DB01-21EC-729CFD8B7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1. Для нового заведения стоит рассмотреть районы с высокой проходимостью.</a:t>
            </a:r>
          </a:p>
          <a:p>
            <a:r>
              <a:rPr lang="ru-RU" dirty="0"/>
              <a:t>2. При выборе категории важно учитывать локальные предпочтения.</a:t>
            </a:r>
          </a:p>
          <a:p>
            <a:r>
              <a:rPr lang="ru-RU" dirty="0"/>
              <a:t>3. Ценовая политика должна соответствовать району расположения.</a:t>
            </a:r>
          </a:p>
          <a:p>
            <a:r>
              <a:rPr lang="ru-RU" dirty="0"/>
              <a:t>4. Уникальная концепция может стать конкурентным преимуществом.</a:t>
            </a:r>
          </a:p>
          <a:p>
            <a:r>
              <a:rPr lang="ru-RU" dirty="0"/>
              <a:t>5. Сетевой формат имеет преимущества, но требует больше инвестиций.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6179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34D7C-D29D-18ED-9616-8D5D26E2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ОТКРЫТИЯ КОФЕЙНИ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5A218-432A-06DF-7501-5540C07BF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Рассмотреть районы: Хамовники, Таганский, Басманный.</a:t>
            </a:r>
          </a:p>
          <a:p>
            <a:r>
              <a:rPr lang="ru-RU" dirty="0"/>
              <a:t>2. Цена капучино: 250-350 рублей.</a:t>
            </a:r>
          </a:p>
          <a:p>
            <a:r>
              <a:rPr lang="ru-RU" dirty="0"/>
              <a:t>3. Количество мест: 20-40.</a:t>
            </a:r>
          </a:p>
          <a:p>
            <a:r>
              <a:rPr lang="ru-RU" dirty="0"/>
              <a:t>4. Акцент на качественный кофе и атмосферу.</a:t>
            </a:r>
          </a:p>
          <a:p>
            <a:r>
              <a:rPr lang="ru-RU" dirty="0"/>
              <a:t>5. Рассмотреть возможность работы допоздна или круглосуточно.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122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327</Words>
  <Application>Microsoft Macintosh PowerPoint</Application>
  <PresentationFormat>Widescreen</PresentationFormat>
  <Paragraphs>47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Рынок заведений общественного питания Москвы </vt:lpstr>
      <vt:lpstr>КЛЮЧЕВЫЕ МЕТРИКИ</vt:lpstr>
      <vt:lpstr>ТОП-5 КАТЕГОРИЙ</vt:lpstr>
      <vt:lpstr>ТОП-5 РАЙОНОВ</vt:lpstr>
      <vt:lpstr>АНАЛИЗ ДЛЯ КОФЕЕН</vt:lpstr>
      <vt:lpstr>PowerPoint Presentation</vt:lpstr>
      <vt:lpstr>PowerPoint Presentation</vt:lpstr>
      <vt:lpstr>Детальный анализ рынка кофеен Москвы</vt:lpstr>
      <vt:lpstr>PowerPoint Presentation</vt:lpstr>
      <vt:lpstr>PowerPoint Presentation</vt:lpstr>
      <vt:lpstr>ОСНОВНЫЕ ВЫВОДЫ</vt:lpstr>
      <vt:lpstr>РЕКОМЕНДАЦИИ ДЛЯ ИНВЕСТОРОВ</vt:lpstr>
      <vt:lpstr>ДЛЯ ОТКРЫТИЯ КОФЕЙНИ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</dc:creator>
  <cp:lastModifiedBy>phil</cp:lastModifiedBy>
  <cp:revision>6</cp:revision>
  <dcterms:created xsi:type="dcterms:W3CDTF">2025-12-09T13:21:46Z</dcterms:created>
  <dcterms:modified xsi:type="dcterms:W3CDTF">2025-12-09T13:32:02Z</dcterms:modified>
</cp:coreProperties>
</file>