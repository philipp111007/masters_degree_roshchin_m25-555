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82" r:id="rId21"/>
    <p:sldId id="266" r:id="rId22"/>
    <p:sldId id="283" r:id="rId23"/>
    <p:sldId id="267" r:id="rId24"/>
    <p:sldId id="26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73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54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0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52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73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7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5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4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6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5D7635D-5716-2149-87AF-1F135607E50F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1235A8B-722B-4E49-A4B3-7B27B73C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8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B49F-7475-0FE2-24C2-C6524B291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0320"/>
            <a:ext cx="9144000" cy="3806989"/>
          </a:xfrm>
        </p:spPr>
        <p:txBody>
          <a:bodyPr>
            <a:normAutofit/>
          </a:bodyPr>
          <a:lstStyle/>
          <a:p>
            <a:r>
              <a:rPr lang="ru-RU" b="1" dirty="0"/>
              <a:t>Рынок заведений общественного питания Москвы</a:t>
            </a:r>
            <a:br>
              <a:rPr lang="ru-RU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B90D2-21D1-BED5-645D-D3D681FCE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0" y="5989638"/>
            <a:ext cx="4572000" cy="591590"/>
          </a:xfrm>
        </p:spPr>
        <p:txBody>
          <a:bodyPr/>
          <a:lstStyle/>
          <a:p>
            <a:r>
              <a:rPr lang="ru-RU" dirty="0"/>
              <a:t>Рощин Филипп Андреевич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28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4B9DCB-34DA-D924-EFD0-4F0EDD69DDFE}"/>
              </a:ext>
            </a:extLst>
          </p:cNvPr>
          <p:cNvSpPr txBox="1"/>
          <p:nvPr/>
        </p:nvSpPr>
        <p:spPr>
          <a:xfrm>
            <a:off x="2939526" y="2782669"/>
            <a:ext cx="6312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Цели</a:t>
            </a:r>
            <a:r>
              <a:rPr lang="en-US" sz="3600" dirty="0"/>
              <a:t> </a:t>
            </a:r>
            <a:r>
              <a:rPr lang="en-US" sz="3600" dirty="0" err="1"/>
              <a:t>и</a:t>
            </a:r>
            <a:r>
              <a:rPr lang="en-US" sz="3600" dirty="0"/>
              <a:t> </a:t>
            </a:r>
            <a:r>
              <a:rPr lang="en-US" sz="3600" dirty="0" err="1"/>
              <a:t>задачи</a:t>
            </a:r>
            <a:r>
              <a:rPr lang="en-US" sz="3600" dirty="0"/>
              <a:t> </a:t>
            </a:r>
            <a:r>
              <a:rPr lang="en-US" sz="3600" dirty="0" err="1"/>
              <a:t>исследования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5167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575B1-F1D0-D1AD-DDDE-0CFC55D5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Цель</a:t>
            </a:r>
            <a:r>
              <a:rPr lang="en-US" dirty="0"/>
              <a:t> </a:t>
            </a:r>
            <a:r>
              <a:rPr lang="en-US" dirty="0" err="1"/>
              <a:t>проекта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55779-7DFB-3F86-52BE-2D9667ADE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комплексный</a:t>
            </a:r>
            <a:r>
              <a:rPr lang="en-US" dirty="0"/>
              <a:t> </a:t>
            </a: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рынка</a:t>
            </a:r>
            <a:r>
              <a:rPr lang="en-US" dirty="0"/>
              <a:t> </a:t>
            </a:r>
            <a:r>
              <a:rPr lang="en-US" dirty="0" err="1"/>
              <a:t>общественного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 </a:t>
            </a:r>
            <a:r>
              <a:rPr lang="en-US" dirty="0" err="1"/>
              <a:t>Москвы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 </a:t>
            </a:r>
            <a:r>
              <a:rPr lang="en-US" dirty="0" err="1"/>
              <a:t>обоснованных</a:t>
            </a:r>
            <a:r>
              <a:rPr lang="en-US" dirty="0"/>
              <a:t> </a:t>
            </a:r>
            <a:r>
              <a:rPr lang="en-US" dirty="0" err="1"/>
              <a:t>рекомендаций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открытию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заведения</a:t>
            </a:r>
            <a:r>
              <a:rPr lang="en-US" dirty="0"/>
              <a:t>, </a:t>
            </a:r>
            <a:r>
              <a:rPr lang="en-US" dirty="0" err="1"/>
              <a:t>соответствующего</a:t>
            </a:r>
            <a:r>
              <a:rPr lang="en-US" dirty="0"/>
              <a:t> </a:t>
            </a:r>
            <a:r>
              <a:rPr lang="en-US" dirty="0" err="1"/>
              <a:t>требованиям</a:t>
            </a:r>
            <a:r>
              <a:rPr lang="en-US" dirty="0"/>
              <a:t> </a:t>
            </a:r>
            <a:r>
              <a:rPr lang="en-US" dirty="0" err="1"/>
              <a:t>инвесторов</a:t>
            </a:r>
            <a:r>
              <a:rPr lang="en-US" dirty="0"/>
              <a:t> </a:t>
            </a:r>
            <a:r>
              <a:rPr lang="en-US" dirty="0" err="1"/>
              <a:t>фонда</a:t>
            </a:r>
            <a:r>
              <a:rPr lang="en-US" dirty="0"/>
              <a:t> «Shut Up and Take My Money»</a:t>
            </a:r>
          </a:p>
        </p:txBody>
      </p:sp>
    </p:spTree>
    <p:extLst>
      <p:ext uri="{BB962C8B-B14F-4D97-AF65-F5344CB8AC3E}">
        <p14:creationId xmlns:p14="http://schemas.microsoft.com/office/powerpoint/2010/main" val="136769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0B65-49BA-89FB-B25D-CD20F9A6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Ключевые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исследования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5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2F3F1-BD6A-AEAC-964F-B2E35212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8888" y="1878008"/>
            <a:ext cx="10213112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1. </a:t>
            </a:r>
            <a:r>
              <a:rPr lang="en-US" sz="2800" dirty="0" err="1"/>
              <a:t>Анализ</a:t>
            </a:r>
            <a:r>
              <a:rPr lang="en-US" sz="2800" dirty="0"/>
              <a:t> </a:t>
            </a:r>
            <a:r>
              <a:rPr lang="en-US" sz="2800" dirty="0" err="1"/>
              <a:t>общего</a:t>
            </a:r>
            <a:r>
              <a:rPr lang="en-US" sz="2800" dirty="0"/>
              <a:t> </a:t>
            </a:r>
            <a:r>
              <a:rPr lang="en-US" sz="2800" dirty="0" err="1"/>
              <a:t>состояния</a:t>
            </a:r>
            <a:r>
              <a:rPr lang="en-US" sz="2800" dirty="0"/>
              <a:t> </a:t>
            </a:r>
            <a:r>
              <a:rPr lang="en-US" sz="2800" dirty="0" err="1"/>
              <a:t>рынка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Изучить</a:t>
            </a:r>
            <a:r>
              <a:rPr lang="en-US" sz="2800" dirty="0"/>
              <a:t> </a:t>
            </a:r>
            <a:r>
              <a:rPr lang="en-US" sz="2800" dirty="0" err="1"/>
              <a:t>структуру</a:t>
            </a:r>
            <a:r>
              <a:rPr lang="en-US" sz="2800" dirty="0"/>
              <a:t> </a:t>
            </a:r>
            <a:r>
              <a:rPr lang="en-US" sz="2800" dirty="0" err="1"/>
              <a:t>рынка</a:t>
            </a:r>
            <a:r>
              <a:rPr lang="en-US" sz="2800" dirty="0"/>
              <a:t> </a:t>
            </a:r>
            <a:r>
              <a:rPr lang="en-US" sz="2800" dirty="0" err="1"/>
              <a:t>по</a:t>
            </a:r>
            <a:r>
              <a:rPr lang="en-US" sz="2800" dirty="0"/>
              <a:t> </a:t>
            </a:r>
            <a:r>
              <a:rPr lang="en-US" sz="2800" dirty="0" err="1"/>
              <a:t>категориям</a:t>
            </a:r>
            <a:r>
              <a:rPr lang="en-US" sz="2800" dirty="0"/>
              <a:t> </a:t>
            </a:r>
            <a:r>
              <a:rPr lang="en-US" sz="2800" dirty="0" err="1"/>
              <a:t>заведений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Проанализировать</a:t>
            </a:r>
            <a:r>
              <a:rPr lang="en-US" sz="2800" dirty="0"/>
              <a:t> </a:t>
            </a:r>
            <a:r>
              <a:rPr lang="en-US" sz="2800" dirty="0" err="1"/>
              <a:t>географическое</a:t>
            </a:r>
            <a:r>
              <a:rPr lang="en-US" sz="2800" dirty="0"/>
              <a:t> </a:t>
            </a:r>
            <a:r>
              <a:rPr lang="en-US" sz="2800" dirty="0" err="1"/>
              <a:t>распределение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Определить</a:t>
            </a:r>
            <a:r>
              <a:rPr lang="en-US" sz="2800" dirty="0"/>
              <a:t> </a:t>
            </a:r>
            <a:r>
              <a:rPr lang="en-US" sz="2800" dirty="0" err="1"/>
              <a:t>уровень</a:t>
            </a:r>
            <a:r>
              <a:rPr lang="en-US" sz="2800" dirty="0"/>
              <a:t> </a:t>
            </a:r>
            <a:r>
              <a:rPr lang="en-US" sz="2800" dirty="0" err="1"/>
              <a:t>конкуренции</a:t>
            </a:r>
            <a:r>
              <a:rPr lang="en-US" sz="2800" dirty="0"/>
              <a:t> </a:t>
            </a:r>
            <a:r>
              <a:rPr lang="en-US" sz="2800" dirty="0" err="1"/>
              <a:t>в</a:t>
            </a:r>
            <a:r>
              <a:rPr lang="en-US" sz="2800" dirty="0"/>
              <a:t> </a:t>
            </a:r>
            <a:r>
              <a:rPr lang="en-US" sz="2800" dirty="0" err="1"/>
              <a:t>разных</a:t>
            </a:r>
            <a:r>
              <a:rPr lang="en-US" sz="2800" dirty="0"/>
              <a:t> </a:t>
            </a:r>
            <a:r>
              <a:rPr lang="en-US" sz="2800" dirty="0" err="1"/>
              <a:t>сегментах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73792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545FB-4F22-1FDB-6DDE-F9D21523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838" y="1878008"/>
            <a:ext cx="10538933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2. </a:t>
            </a:r>
            <a:r>
              <a:rPr lang="en-US" sz="3200" dirty="0" err="1"/>
              <a:t>Исследование</a:t>
            </a:r>
            <a:r>
              <a:rPr lang="en-US" sz="3200" dirty="0"/>
              <a:t> </a:t>
            </a:r>
            <a:r>
              <a:rPr lang="en-US" sz="3200" dirty="0" err="1"/>
              <a:t>ценовой</a:t>
            </a:r>
            <a:r>
              <a:rPr lang="en-US" sz="3200" dirty="0"/>
              <a:t> </a:t>
            </a:r>
            <a:r>
              <a:rPr lang="en-US" sz="3200" dirty="0" err="1"/>
              <a:t>политики</a:t>
            </a:r>
            <a:endParaRPr lang="en-US" sz="3200" dirty="0"/>
          </a:p>
          <a:p>
            <a:r>
              <a:rPr lang="en-US" sz="3200" dirty="0"/>
              <a:t>- </a:t>
            </a:r>
            <a:r>
              <a:rPr lang="en-US" sz="3200" dirty="0" err="1"/>
              <a:t>Проанализировать</a:t>
            </a:r>
            <a:r>
              <a:rPr lang="en-US" sz="3200" dirty="0"/>
              <a:t> </a:t>
            </a:r>
            <a:r>
              <a:rPr lang="en-US" sz="3200" dirty="0" err="1"/>
              <a:t>средние</a:t>
            </a:r>
            <a:r>
              <a:rPr lang="en-US" sz="3200" dirty="0"/>
              <a:t> </a:t>
            </a:r>
            <a:r>
              <a:rPr lang="en-US" sz="3200" dirty="0" err="1"/>
              <a:t>чеки</a:t>
            </a:r>
            <a:r>
              <a:rPr lang="en-US" sz="3200" dirty="0"/>
              <a:t> </a:t>
            </a:r>
            <a:r>
              <a:rPr lang="en-US" sz="3200" dirty="0" err="1"/>
              <a:t>по</a:t>
            </a:r>
            <a:r>
              <a:rPr lang="en-US" sz="3200" dirty="0"/>
              <a:t> </a:t>
            </a:r>
            <a:r>
              <a:rPr lang="en-US" sz="3200" dirty="0" err="1"/>
              <a:t>районам</a:t>
            </a:r>
            <a:endParaRPr lang="en-US" sz="3200" dirty="0"/>
          </a:p>
          <a:p>
            <a:r>
              <a:rPr lang="en-US" sz="3200" dirty="0"/>
              <a:t>- </a:t>
            </a:r>
            <a:r>
              <a:rPr lang="en-US" sz="3200" dirty="0" err="1"/>
              <a:t>Выявить</a:t>
            </a:r>
            <a:r>
              <a:rPr lang="en-US" sz="3200" dirty="0"/>
              <a:t> </a:t>
            </a:r>
            <a:r>
              <a:rPr lang="en-US" sz="3200" dirty="0" err="1"/>
              <a:t>зависимость</a:t>
            </a:r>
            <a:r>
              <a:rPr lang="en-US" sz="3200" dirty="0"/>
              <a:t> </a:t>
            </a:r>
            <a:r>
              <a:rPr lang="en-US" sz="3200" dirty="0" err="1"/>
              <a:t>цен</a:t>
            </a:r>
            <a:r>
              <a:rPr lang="en-US" sz="3200" dirty="0"/>
              <a:t> </a:t>
            </a:r>
            <a:r>
              <a:rPr lang="en-US" sz="3200" dirty="0" err="1"/>
              <a:t>от</a:t>
            </a:r>
            <a:r>
              <a:rPr lang="en-US" sz="3200" dirty="0"/>
              <a:t> </a:t>
            </a:r>
            <a:r>
              <a:rPr lang="en-US" sz="3200" dirty="0" err="1"/>
              <a:t>локации</a:t>
            </a:r>
            <a:endParaRPr lang="en-US" sz="3200" dirty="0"/>
          </a:p>
          <a:p>
            <a:r>
              <a:rPr lang="en-US" sz="3200" dirty="0"/>
              <a:t>- </a:t>
            </a:r>
            <a:r>
              <a:rPr lang="en-US" sz="3200" dirty="0" err="1"/>
              <a:t>Определить</a:t>
            </a:r>
            <a:r>
              <a:rPr lang="en-US" sz="3200" dirty="0"/>
              <a:t> </a:t>
            </a:r>
            <a:r>
              <a:rPr lang="en-US" sz="3200" dirty="0" err="1"/>
              <a:t>оптимальные</a:t>
            </a:r>
            <a:r>
              <a:rPr lang="en-US" sz="3200" dirty="0"/>
              <a:t> </a:t>
            </a:r>
            <a:r>
              <a:rPr lang="en-US" sz="3200" dirty="0" err="1"/>
              <a:t>ценовые</a:t>
            </a:r>
            <a:r>
              <a:rPr lang="en-US" sz="3200" dirty="0"/>
              <a:t> </a:t>
            </a:r>
            <a:r>
              <a:rPr lang="en-US" sz="3200" dirty="0" err="1"/>
              <a:t>сегменты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60710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305FC-F6A9-C783-6CE8-8D0756BE5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412" y="1878008"/>
            <a:ext cx="10381278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3. </a:t>
            </a:r>
            <a:r>
              <a:rPr lang="en-US" sz="3200" dirty="0" err="1"/>
              <a:t>Оценка</a:t>
            </a:r>
            <a:r>
              <a:rPr lang="en-US" sz="3200" dirty="0"/>
              <a:t> </a:t>
            </a:r>
            <a:r>
              <a:rPr lang="en-US" sz="3200" dirty="0" err="1"/>
              <a:t>качества</a:t>
            </a:r>
            <a:r>
              <a:rPr lang="en-US" sz="3200" dirty="0"/>
              <a:t> </a:t>
            </a:r>
            <a:r>
              <a:rPr lang="en-US" sz="3200" dirty="0" err="1"/>
              <a:t>и</a:t>
            </a:r>
            <a:r>
              <a:rPr lang="en-US" sz="3200" dirty="0"/>
              <a:t> </a:t>
            </a:r>
            <a:r>
              <a:rPr lang="en-US" sz="3200" dirty="0" err="1"/>
              <a:t>рейтингов</a:t>
            </a:r>
            <a:endParaRPr lang="en-US" sz="3200" dirty="0"/>
          </a:p>
          <a:p>
            <a:r>
              <a:rPr lang="en-US" sz="3200" dirty="0"/>
              <a:t>- </a:t>
            </a:r>
            <a:r>
              <a:rPr lang="en-US" sz="3200" dirty="0" err="1"/>
              <a:t>Изучить</a:t>
            </a:r>
            <a:r>
              <a:rPr lang="en-US" sz="3200" dirty="0"/>
              <a:t> </a:t>
            </a:r>
            <a:r>
              <a:rPr lang="en-US" sz="3200" dirty="0" err="1"/>
              <a:t>распределение</a:t>
            </a:r>
            <a:r>
              <a:rPr lang="en-US" sz="3200" dirty="0"/>
              <a:t> </a:t>
            </a:r>
            <a:r>
              <a:rPr lang="en-US" sz="3200" dirty="0" err="1"/>
              <a:t>рейтингов</a:t>
            </a:r>
            <a:r>
              <a:rPr lang="en-US" sz="3200" dirty="0"/>
              <a:t> </a:t>
            </a:r>
            <a:r>
              <a:rPr lang="en-US" sz="3200" dirty="0" err="1"/>
              <a:t>по</a:t>
            </a:r>
            <a:r>
              <a:rPr lang="en-US" sz="3200" dirty="0"/>
              <a:t> </a:t>
            </a:r>
            <a:r>
              <a:rPr lang="en-US" sz="3200" dirty="0" err="1"/>
              <a:t>категориям</a:t>
            </a:r>
            <a:endParaRPr lang="en-US" sz="3200" dirty="0"/>
          </a:p>
          <a:p>
            <a:r>
              <a:rPr lang="en-US" sz="3200" dirty="0"/>
              <a:t>- </a:t>
            </a:r>
            <a:r>
              <a:rPr lang="en-US" sz="3200" dirty="0" err="1"/>
              <a:t>Выявить</a:t>
            </a:r>
            <a:r>
              <a:rPr lang="en-US" sz="3200" dirty="0"/>
              <a:t> </a:t>
            </a:r>
            <a:r>
              <a:rPr lang="en-US" sz="3200" dirty="0" err="1"/>
              <a:t>факторы</a:t>
            </a:r>
            <a:r>
              <a:rPr lang="en-US" sz="3200" dirty="0"/>
              <a:t> </a:t>
            </a:r>
            <a:r>
              <a:rPr lang="en-US" sz="3200" dirty="0" err="1"/>
              <a:t>успешных</a:t>
            </a:r>
            <a:r>
              <a:rPr lang="en-US" sz="3200" dirty="0"/>
              <a:t> </a:t>
            </a:r>
            <a:r>
              <a:rPr lang="en-US" sz="3200" dirty="0" err="1"/>
              <a:t>заведений</a:t>
            </a:r>
            <a:endParaRPr lang="en-US" sz="3200" dirty="0"/>
          </a:p>
          <a:p>
            <a:r>
              <a:rPr lang="en-US" sz="3200" dirty="0"/>
              <a:t>- </a:t>
            </a:r>
            <a:r>
              <a:rPr lang="en-US" sz="3200" dirty="0" err="1"/>
              <a:t>Сравнить</a:t>
            </a:r>
            <a:r>
              <a:rPr lang="en-US" sz="3200" dirty="0"/>
              <a:t> </a:t>
            </a:r>
            <a:r>
              <a:rPr lang="en-US" sz="3200" dirty="0" err="1"/>
              <a:t>сетевые</a:t>
            </a:r>
            <a:r>
              <a:rPr lang="en-US" sz="3200" dirty="0"/>
              <a:t> </a:t>
            </a:r>
            <a:r>
              <a:rPr lang="en-US" sz="3200" dirty="0" err="1"/>
              <a:t>и</a:t>
            </a:r>
            <a:r>
              <a:rPr lang="en-US" sz="3200" dirty="0"/>
              <a:t> </a:t>
            </a:r>
            <a:r>
              <a:rPr lang="en-US" sz="3200" dirty="0" err="1"/>
              <a:t>независимые</a:t>
            </a:r>
            <a:r>
              <a:rPr lang="en-US" sz="3200" dirty="0"/>
              <a:t> </a:t>
            </a:r>
            <a:r>
              <a:rPr lang="en-US" sz="3200" dirty="0" err="1"/>
              <a:t>форматы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063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1D16-012F-CA0C-C7C9-657125C9E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95" y="1878008"/>
            <a:ext cx="11222105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4. </a:t>
            </a:r>
            <a:r>
              <a:rPr lang="en-US" sz="2800" dirty="0" err="1"/>
              <a:t>Специализированный</a:t>
            </a:r>
            <a:r>
              <a:rPr lang="en-US" sz="2800" dirty="0"/>
              <a:t> </a:t>
            </a:r>
            <a:r>
              <a:rPr lang="en-US" sz="2800" dirty="0" err="1"/>
              <a:t>анализ</a:t>
            </a:r>
            <a:r>
              <a:rPr lang="en-US" sz="2800" dirty="0"/>
              <a:t> </a:t>
            </a:r>
            <a:r>
              <a:rPr lang="en-US" sz="2800" dirty="0" err="1"/>
              <a:t>кофеен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Оценить</a:t>
            </a:r>
            <a:r>
              <a:rPr lang="en-US" sz="2800" dirty="0"/>
              <a:t> </a:t>
            </a:r>
            <a:r>
              <a:rPr lang="en-US" sz="2800" dirty="0" err="1"/>
              <a:t>потенциал</a:t>
            </a:r>
            <a:r>
              <a:rPr lang="en-US" sz="2800" dirty="0"/>
              <a:t> </a:t>
            </a:r>
            <a:r>
              <a:rPr lang="en-US" sz="2800" dirty="0" err="1"/>
              <a:t>открытия</a:t>
            </a:r>
            <a:r>
              <a:rPr lang="en-US" sz="2800" dirty="0"/>
              <a:t> </a:t>
            </a:r>
            <a:r>
              <a:rPr lang="en-US" sz="2800" dirty="0" err="1"/>
              <a:t>кофейни</a:t>
            </a:r>
            <a:r>
              <a:rPr lang="en-US" sz="2800" dirty="0"/>
              <a:t> </a:t>
            </a:r>
            <a:r>
              <a:rPr lang="en-US" sz="2800" dirty="0" err="1"/>
              <a:t>в</a:t>
            </a:r>
            <a:r>
              <a:rPr lang="en-US" sz="2800" dirty="0"/>
              <a:t> </a:t>
            </a:r>
            <a:r>
              <a:rPr lang="en-US" sz="2800" dirty="0" err="1"/>
              <a:t>стиле</a:t>
            </a:r>
            <a:r>
              <a:rPr lang="en-US" sz="2800" dirty="0"/>
              <a:t> «Central Perk»</a:t>
            </a:r>
          </a:p>
          <a:p>
            <a:r>
              <a:rPr lang="en-US" sz="2800" dirty="0"/>
              <a:t>- </a:t>
            </a:r>
            <a:r>
              <a:rPr lang="en-US" sz="2800" dirty="0" err="1"/>
              <a:t>Проанализировать</a:t>
            </a:r>
            <a:r>
              <a:rPr lang="en-US" sz="2800" dirty="0"/>
              <a:t> </a:t>
            </a:r>
            <a:r>
              <a:rPr lang="en-US" sz="2800" dirty="0" err="1"/>
              <a:t>конкурентную</a:t>
            </a:r>
            <a:r>
              <a:rPr lang="en-US" sz="2800" dirty="0"/>
              <a:t> </a:t>
            </a:r>
            <a:r>
              <a:rPr lang="en-US" sz="2800" dirty="0" err="1"/>
              <a:t>среду</a:t>
            </a:r>
            <a:r>
              <a:rPr lang="en-US" sz="2800" dirty="0"/>
              <a:t> </a:t>
            </a:r>
            <a:r>
              <a:rPr lang="en-US" sz="2800" dirty="0" err="1"/>
              <a:t>кофейного</a:t>
            </a:r>
            <a:r>
              <a:rPr lang="en-US" sz="2800" dirty="0"/>
              <a:t> </a:t>
            </a:r>
            <a:r>
              <a:rPr lang="en-US" sz="2800" dirty="0" err="1"/>
              <a:t>сегмента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Определить</a:t>
            </a:r>
            <a:r>
              <a:rPr lang="en-US" sz="2800" dirty="0"/>
              <a:t> </a:t>
            </a:r>
            <a:r>
              <a:rPr lang="en-US" sz="2800" dirty="0" err="1"/>
              <a:t>оптимальные</a:t>
            </a:r>
            <a:r>
              <a:rPr lang="en-US" sz="2800" dirty="0"/>
              <a:t> </a:t>
            </a:r>
            <a:r>
              <a:rPr lang="en-US" sz="2800" dirty="0" err="1"/>
              <a:t>локации</a:t>
            </a:r>
            <a:r>
              <a:rPr lang="en-US" sz="2800" dirty="0"/>
              <a:t> </a:t>
            </a:r>
            <a:r>
              <a:rPr lang="en-US" sz="2800" dirty="0" err="1"/>
              <a:t>и</a:t>
            </a:r>
            <a:r>
              <a:rPr lang="en-US" sz="2800" dirty="0"/>
              <a:t> </a:t>
            </a:r>
            <a:r>
              <a:rPr lang="en-US" sz="2800" dirty="0" err="1"/>
              <a:t>ценовую</a:t>
            </a:r>
            <a:r>
              <a:rPr lang="en-US" sz="2800" dirty="0"/>
              <a:t> </a:t>
            </a:r>
            <a:r>
              <a:rPr lang="en-US" sz="2800" dirty="0" err="1"/>
              <a:t>политику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14375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7144-B8C6-E580-A491-ADC33A689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018" y="2038955"/>
            <a:ext cx="11222105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5. </a:t>
            </a:r>
            <a:r>
              <a:rPr lang="en-US" sz="2800" dirty="0" err="1"/>
              <a:t>Разработка</a:t>
            </a:r>
            <a:r>
              <a:rPr lang="en-US" sz="2800" dirty="0"/>
              <a:t> </a:t>
            </a:r>
            <a:r>
              <a:rPr lang="en-US" sz="2800" dirty="0" err="1"/>
              <a:t>практических</a:t>
            </a:r>
            <a:r>
              <a:rPr lang="en-US" sz="2800" dirty="0"/>
              <a:t> </a:t>
            </a:r>
            <a:r>
              <a:rPr lang="en-US" sz="2800" dirty="0" err="1"/>
              <a:t>рекомендаций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Сформировать</a:t>
            </a:r>
            <a:r>
              <a:rPr lang="en-US" sz="2800" dirty="0"/>
              <a:t> </a:t>
            </a:r>
            <a:r>
              <a:rPr lang="en-US" sz="2800" dirty="0" err="1"/>
              <a:t>конкретные</a:t>
            </a:r>
            <a:r>
              <a:rPr lang="en-US" sz="2800" dirty="0"/>
              <a:t> </a:t>
            </a:r>
            <a:r>
              <a:rPr lang="en-US" sz="2800" dirty="0" err="1"/>
              <a:t>предложения</a:t>
            </a:r>
            <a:r>
              <a:rPr lang="en-US" sz="2800" dirty="0"/>
              <a:t> </a:t>
            </a:r>
            <a:r>
              <a:rPr lang="en-US" sz="2800" dirty="0" err="1"/>
              <a:t>по</a:t>
            </a:r>
            <a:r>
              <a:rPr lang="en-US" sz="2800" dirty="0"/>
              <a:t> </a:t>
            </a:r>
            <a:r>
              <a:rPr lang="en-US" sz="2800" dirty="0" err="1"/>
              <a:t>формату</a:t>
            </a:r>
            <a:r>
              <a:rPr lang="en-US" sz="2800" dirty="0"/>
              <a:t> </a:t>
            </a:r>
            <a:r>
              <a:rPr lang="en-US" sz="2800" dirty="0" err="1"/>
              <a:t>и</a:t>
            </a:r>
            <a:r>
              <a:rPr lang="en-US" sz="2800" dirty="0"/>
              <a:t> </a:t>
            </a:r>
            <a:r>
              <a:rPr lang="en-US" sz="2800" dirty="0" err="1"/>
              <a:t>концепции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Определить</a:t>
            </a:r>
            <a:r>
              <a:rPr lang="en-US" sz="2800" dirty="0"/>
              <a:t> </a:t>
            </a:r>
            <a:r>
              <a:rPr lang="en-US" sz="2800" dirty="0" err="1"/>
              <a:t>оптимальные</a:t>
            </a:r>
            <a:r>
              <a:rPr lang="en-US" sz="2800" dirty="0"/>
              <a:t> </a:t>
            </a:r>
            <a:r>
              <a:rPr lang="en-US" sz="2800" dirty="0" err="1"/>
              <a:t>параметры</a:t>
            </a:r>
            <a:r>
              <a:rPr lang="en-US" sz="2800" dirty="0"/>
              <a:t> </a:t>
            </a:r>
            <a:r>
              <a:rPr lang="en-US" sz="2800" dirty="0" err="1"/>
              <a:t>для</a:t>
            </a:r>
            <a:r>
              <a:rPr lang="en-US" sz="2800" dirty="0"/>
              <a:t> </a:t>
            </a:r>
            <a:r>
              <a:rPr lang="en-US" sz="2800" dirty="0" err="1"/>
              <a:t>нового</a:t>
            </a:r>
            <a:r>
              <a:rPr lang="en-US" sz="2800" dirty="0"/>
              <a:t> </a:t>
            </a:r>
            <a:r>
              <a:rPr lang="en-US" sz="2800" dirty="0" err="1"/>
              <a:t>заведения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Предложить</a:t>
            </a:r>
            <a:r>
              <a:rPr lang="en-US" sz="2800" dirty="0"/>
              <a:t> </a:t>
            </a:r>
            <a:r>
              <a:rPr lang="en-US" sz="2800" dirty="0" err="1"/>
              <a:t>план</a:t>
            </a:r>
            <a:r>
              <a:rPr lang="en-US" sz="2800" dirty="0"/>
              <a:t> </a:t>
            </a:r>
            <a:r>
              <a:rPr lang="en-US" sz="2800" dirty="0" err="1"/>
              <a:t>действий</a:t>
            </a:r>
            <a:r>
              <a:rPr lang="en-US" sz="2800" dirty="0"/>
              <a:t> </a:t>
            </a:r>
            <a:r>
              <a:rPr lang="en-US" sz="2800" dirty="0" err="1"/>
              <a:t>для</a:t>
            </a:r>
            <a:r>
              <a:rPr lang="en-US" sz="2800" dirty="0"/>
              <a:t> </a:t>
            </a:r>
            <a:r>
              <a:rPr lang="en-US" sz="2800" dirty="0" err="1"/>
              <a:t>реализации</a:t>
            </a:r>
            <a:r>
              <a:rPr lang="en-US" sz="2800" dirty="0"/>
              <a:t> </a:t>
            </a:r>
            <a:r>
              <a:rPr lang="en-US" sz="2800" dirty="0" err="1"/>
              <a:t>проекта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18464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418E5-4D5E-D50B-3BF0-A7FA7F5B4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95" y="1878008"/>
            <a:ext cx="10738629" cy="31019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 err="1"/>
              <a:t>Ожидаемые</a:t>
            </a:r>
            <a:r>
              <a:rPr lang="en-US" sz="2800" dirty="0"/>
              <a:t> </a:t>
            </a:r>
            <a:r>
              <a:rPr lang="en-US" sz="2800" dirty="0" err="1"/>
              <a:t>результаты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Презентация</a:t>
            </a:r>
            <a:r>
              <a:rPr lang="en-US" sz="2800" dirty="0"/>
              <a:t> </a:t>
            </a:r>
            <a:r>
              <a:rPr lang="en-US" sz="2800" dirty="0" err="1"/>
              <a:t>с</a:t>
            </a:r>
            <a:r>
              <a:rPr lang="en-US" sz="2800" dirty="0"/>
              <a:t> </a:t>
            </a:r>
            <a:r>
              <a:rPr lang="en-US" sz="2800" dirty="0" err="1"/>
              <a:t>аналитическими</a:t>
            </a:r>
            <a:r>
              <a:rPr lang="en-US" sz="2800" dirty="0"/>
              <a:t> </a:t>
            </a:r>
            <a:r>
              <a:rPr lang="en-US" sz="2800" dirty="0" err="1"/>
              <a:t>выводами</a:t>
            </a:r>
            <a:r>
              <a:rPr lang="en-US" sz="2800" dirty="0"/>
              <a:t> </a:t>
            </a:r>
            <a:r>
              <a:rPr lang="en-US" sz="2800" dirty="0" err="1"/>
              <a:t>и</a:t>
            </a:r>
            <a:r>
              <a:rPr lang="en-US" sz="2800" dirty="0"/>
              <a:t> </a:t>
            </a:r>
            <a:r>
              <a:rPr lang="en-US" sz="2800" dirty="0" err="1"/>
              <a:t>рекомендациями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Конкретные</a:t>
            </a:r>
            <a:r>
              <a:rPr lang="en-US" sz="2800" dirty="0"/>
              <a:t> </a:t>
            </a:r>
            <a:r>
              <a:rPr lang="en-US" sz="2800" dirty="0" err="1"/>
              <a:t>предложения</a:t>
            </a:r>
            <a:r>
              <a:rPr lang="en-US" sz="2800" dirty="0"/>
              <a:t> </a:t>
            </a:r>
            <a:r>
              <a:rPr lang="en-US" sz="2800" dirty="0" err="1"/>
              <a:t>по</a:t>
            </a:r>
            <a:r>
              <a:rPr lang="en-US" sz="2800" dirty="0"/>
              <a:t> </a:t>
            </a:r>
            <a:r>
              <a:rPr lang="en-US" sz="2800" dirty="0" err="1"/>
              <a:t>локации</a:t>
            </a:r>
            <a:r>
              <a:rPr lang="en-US" sz="2800" dirty="0"/>
              <a:t>, </a:t>
            </a:r>
            <a:r>
              <a:rPr lang="en-US" sz="2800" dirty="0" err="1"/>
              <a:t>формату</a:t>
            </a:r>
            <a:r>
              <a:rPr lang="en-US" sz="2800" dirty="0"/>
              <a:t> </a:t>
            </a:r>
            <a:r>
              <a:rPr lang="en-US" sz="2800" dirty="0" err="1"/>
              <a:t>и</a:t>
            </a:r>
            <a:r>
              <a:rPr lang="en-US" sz="2800" dirty="0"/>
              <a:t> </a:t>
            </a:r>
            <a:r>
              <a:rPr lang="en-US" sz="2800" dirty="0" err="1"/>
              <a:t>ценообразованию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Пошаговый</a:t>
            </a:r>
            <a:r>
              <a:rPr lang="en-US" sz="2800" dirty="0"/>
              <a:t> </a:t>
            </a:r>
            <a:r>
              <a:rPr lang="en-US" sz="2800" dirty="0" err="1"/>
              <a:t>план</a:t>
            </a:r>
            <a:r>
              <a:rPr lang="en-US" sz="2800" dirty="0"/>
              <a:t> </a:t>
            </a:r>
            <a:r>
              <a:rPr lang="en-US" sz="2800" dirty="0" err="1"/>
              <a:t>открытия</a:t>
            </a:r>
            <a:r>
              <a:rPr lang="en-US" sz="2800" dirty="0"/>
              <a:t> </a:t>
            </a:r>
            <a:r>
              <a:rPr lang="en-US" sz="2800" dirty="0" err="1"/>
              <a:t>нового</a:t>
            </a:r>
            <a:r>
              <a:rPr lang="en-US" sz="2800" dirty="0"/>
              <a:t> </a:t>
            </a:r>
            <a:r>
              <a:rPr lang="en-US" sz="2800" dirty="0" err="1"/>
              <a:t>заведения</a:t>
            </a:r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Оценка</a:t>
            </a:r>
            <a:r>
              <a:rPr lang="en-US" sz="2800" dirty="0"/>
              <a:t> </a:t>
            </a:r>
            <a:r>
              <a:rPr lang="en-US" sz="2800" dirty="0" err="1"/>
              <a:t>рисков</a:t>
            </a:r>
            <a:r>
              <a:rPr lang="en-US" sz="2800" dirty="0"/>
              <a:t> </a:t>
            </a:r>
            <a:r>
              <a:rPr lang="en-US" sz="2800" dirty="0" err="1"/>
              <a:t>и</a:t>
            </a:r>
            <a:r>
              <a:rPr lang="en-US" sz="2800" dirty="0"/>
              <a:t> </a:t>
            </a:r>
            <a:r>
              <a:rPr lang="en-US" sz="2800" dirty="0" err="1"/>
              <a:t>возможностей</a:t>
            </a:r>
            <a:r>
              <a:rPr lang="en-US" sz="2800" dirty="0"/>
              <a:t> </a:t>
            </a:r>
            <a:r>
              <a:rPr lang="en-US" sz="2800" dirty="0" err="1"/>
              <a:t>на</a:t>
            </a:r>
            <a:r>
              <a:rPr lang="en-US" sz="2800" dirty="0"/>
              <a:t> </a:t>
            </a:r>
            <a:r>
              <a:rPr lang="en-US" sz="2800" dirty="0" err="1"/>
              <a:t>московском</a:t>
            </a:r>
            <a:r>
              <a:rPr lang="en-US" sz="2800" dirty="0"/>
              <a:t> </a:t>
            </a:r>
            <a:r>
              <a:rPr lang="en-US" sz="2800" dirty="0" err="1"/>
              <a:t>рынке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1773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F0CC4-133F-5E42-252E-38277450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МЕТРИКИ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CE304-5A65-A9BA-5444-B7F449C1C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Общее количество заведений: 8406</a:t>
            </a:r>
          </a:p>
          <a:p>
            <a:r>
              <a:rPr lang="ru-RU" dirty="0"/>
              <a:t>Количество категорий: 8</a:t>
            </a:r>
          </a:p>
          <a:p>
            <a:r>
              <a:rPr lang="ru-RU" dirty="0"/>
              <a:t>Количество районов: 9</a:t>
            </a:r>
          </a:p>
          <a:p>
            <a:r>
              <a:rPr lang="ru-RU" dirty="0"/>
              <a:t>Доля сетевых заведений: 38.1%</a:t>
            </a:r>
          </a:p>
          <a:p>
            <a:r>
              <a:rPr lang="ru-RU" dirty="0"/>
              <a:t>Средний рейтинг: 4.23</a:t>
            </a:r>
          </a:p>
          <a:p>
            <a:r>
              <a:rPr lang="ru-RU" dirty="0"/>
              <a:t>Количество кофеен: 1413</a:t>
            </a:r>
          </a:p>
          <a:p>
            <a:r>
              <a:rPr lang="ru-RU" dirty="0"/>
              <a:t>Доля круглосуточных заведений: 13.5%</a:t>
            </a:r>
          </a:p>
          <a:p>
            <a:r>
              <a:rPr lang="ru-RU" dirty="0"/>
              <a:t>Среднее количество мест: 108 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898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646E-33BD-04F3-8837-579188A6B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ТОП-5 КАТЕГОРИЙ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13FC-4206-D33B-53FE-7DE2D12A4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кафе: 2378 заведений (28.3%)</a:t>
            </a:r>
          </a:p>
          <a:p>
            <a:r>
              <a:rPr lang="ru-RU" dirty="0"/>
              <a:t>2. ресторан: 2043 заведений (24.3%)</a:t>
            </a:r>
          </a:p>
          <a:p>
            <a:r>
              <a:rPr lang="ru-RU" dirty="0"/>
              <a:t>3. кофейня: 1413 заведений (16.8%)</a:t>
            </a:r>
          </a:p>
          <a:p>
            <a:r>
              <a:rPr lang="ru-RU" dirty="0"/>
              <a:t>4. </a:t>
            </a:r>
            <a:r>
              <a:rPr lang="ru-RU" dirty="0" err="1"/>
              <a:t>бар,паб</a:t>
            </a:r>
            <a:r>
              <a:rPr lang="ru-RU" dirty="0"/>
              <a:t>: 765 заведений (9.1%)</a:t>
            </a:r>
          </a:p>
          <a:p>
            <a:r>
              <a:rPr lang="ru-RU" dirty="0"/>
              <a:t>5. пиццерия: 633 заведений (7.5%)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080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B505-7998-DB26-3D32-2A4205F6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ТОП-5 РАЙОНОВ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886C4-680E-2F6E-6918-86D8EDBCC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Центральный административный округ: 2242</a:t>
            </a:r>
          </a:p>
          <a:p>
            <a:r>
              <a:rPr lang="ru-RU" dirty="0"/>
              <a:t>заведений 2. Северный административный округ: 900 заведений</a:t>
            </a:r>
          </a:p>
          <a:p>
            <a:r>
              <a:rPr lang="ru-RU" dirty="0"/>
              <a:t>3. Южный административный округ: 892 заведений</a:t>
            </a:r>
          </a:p>
          <a:p>
            <a:r>
              <a:rPr lang="ru-RU" dirty="0"/>
              <a:t>4. Северо-Восточный административный округ: 891 заведений</a:t>
            </a:r>
          </a:p>
          <a:p>
            <a:r>
              <a:rPr lang="ru-RU" dirty="0"/>
              <a:t>5. Западный административный округ: 851 заведений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424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83312-079B-DB28-3CC9-491CAA27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ДЛЯ КОФЕЕН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E6497-4A9C-DAE8-9C84-297DF3003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Средняя цена капучино: 175 </a:t>
            </a:r>
            <a:r>
              <a:rPr lang="en-US" dirty="0"/>
              <a:t>₽</a:t>
            </a:r>
            <a:endParaRPr lang="ru-RU" dirty="0"/>
          </a:p>
          <a:p>
            <a:r>
              <a:rPr lang="ru-RU" dirty="0"/>
              <a:t>Медианная цена капучино: 170 </a:t>
            </a:r>
            <a:r>
              <a:rPr lang="en-US" dirty="0"/>
              <a:t>₽</a:t>
            </a:r>
            <a:endParaRPr lang="ru-RU" dirty="0"/>
          </a:p>
          <a:p>
            <a:r>
              <a:rPr lang="ru-RU" dirty="0"/>
              <a:t>Средний рейтинг кофеен: 4.28</a:t>
            </a:r>
          </a:p>
          <a:p>
            <a:r>
              <a:rPr lang="ru-RU" dirty="0"/>
              <a:t>Доля сетевых кофеен: 51.0%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604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00E814-FCA0-8A68-AD3B-F872736EE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61" y="1038831"/>
            <a:ext cx="11789403" cy="4668286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383DBF-ECB8-2C30-C81D-C7564FD66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359" y="5938344"/>
            <a:ext cx="10515600" cy="4351338"/>
          </a:xfrm>
        </p:spPr>
        <p:txBody>
          <a:bodyPr/>
          <a:lstStyle/>
          <a:p>
            <a:r>
              <a:rPr lang="ru-RU" dirty="0"/>
              <a:t>В топ-10 категорий явно преобладают кафе (35 </a:t>
            </a:r>
            <a:r>
              <a:rPr lang="en-US" dirty="0"/>
              <a:t>% </a:t>
            </a:r>
            <a:r>
              <a:rPr lang="ru-RU" dirty="0"/>
              <a:t>рынка)</a:t>
            </a:r>
          </a:p>
          <a:p>
            <a:r>
              <a:rPr lang="ru-RU" dirty="0"/>
              <a:t>Топ-3 – кафе, рестораны и кофейни</a:t>
            </a:r>
          </a:p>
        </p:txBody>
      </p:sp>
    </p:spTree>
    <p:extLst>
      <p:ext uri="{BB962C8B-B14F-4D97-AF65-F5344CB8AC3E}">
        <p14:creationId xmlns:p14="http://schemas.microsoft.com/office/powerpoint/2010/main" val="3881097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09E531-FC18-6DC9-344B-6E25C062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61" y="1382400"/>
            <a:ext cx="11780077" cy="438778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398DA1-7132-3009-A0CE-EE8B49347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3842" y="5990897"/>
            <a:ext cx="10515600" cy="4351338"/>
          </a:xfrm>
        </p:spPr>
        <p:txBody>
          <a:bodyPr/>
          <a:lstStyle/>
          <a:p>
            <a:r>
              <a:rPr lang="ru-RU" dirty="0"/>
              <a:t>Более 2000 заведений имеют средний чек до 1000 </a:t>
            </a:r>
            <a:r>
              <a:rPr lang="ru-RU" dirty="0" err="1"/>
              <a:t>руб</a:t>
            </a:r>
            <a:endParaRPr lang="ru-RU" dirty="0"/>
          </a:p>
          <a:p>
            <a:r>
              <a:rPr lang="ru-RU" dirty="0"/>
              <a:t>Самые дорогие заведения расположены в ЗАО и ЦАО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149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B99E-240E-BA97-0F4A-C331A5B5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Детальный анализ рынка кофеен Москвы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00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a bar graph&#10;&#10;AI-generated content may be incorrect.">
            <a:extLst>
              <a:ext uri="{FF2B5EF4-FFF2-40B4-BE49-F238E27FC236}">
                <a16:creationId xmlns:a16="http://schemas.microsoft.com/office/drawing/2014/main" id="{F757F8BD-E723-7E59-B49C-A84979D75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61" y="1341535"/>
            <a:ext cx="11559878" cy="417493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433CCA-D5A3-B327-6C28-F000590C7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076" y="6187418"/>
            <a:ext cx="10515600" cy="4351338"/>
          </a:xfrm>
        </p:spPr>
        <p:txBody>
          <a:bodyPr/>
          <a:lstStyle/>
          <a:p>
            <a:r>
              <a:rPr lang="ru-RU" dirty="0"/>
              <a:t>ЦАО впереди всех по количеству кофеен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1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02B6CC3-BBE5-000B-8405-179A0C3A9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24" y="997767"/>
            <a:ext cx="10727952" cy="4862466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FAC4712-A2AA-DAD7-1C43-0BAA767A9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787" y="6303032"/>
            <a:ext cx="10515600" cy="4351338"/>
          </a:xfrm>
        </p:spPr>
        <p:txBody>
          <a:bodyPr/>
          <a:lstStyle/>
          <a:p>
            <a:r>
              <a:rPr lang="ru-RU" dirty="0"/>
              <a:t>Примерно 200 кофеен имеют цену капучино в 170 </a:t>
            </a:r>
            <a:r>
              <a:rPr lang="ru-RU" dirty="0" err="1"/>
              <a:t>руб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043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261F94-C4AB-2307-4A90-C582EF93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ВЫВОДЫ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58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8946C-5DE9-CF75-B402-67DC1018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800" dirty="0"/>
              <a:t>1. Рынок общественного питания Москвы разнообразен и конкурентен.</a:t>
            </a:r>
          </a:p>
          <a:p>
            <a:r>
              <a:rPr lang="ru-RU" sz="2800" dirty="0"/>
              <a:t>2. Наибольшую долю занимают кафе, рестораны и кофейни.</a:t>
            </a:r>
          </a:p>
          <a:p>
            <a:r>
              <a:rPr lang="ru-RU" sz="2800" dirty="0"/>
              <a:t>3. Центральные районы имеют наибольшую концентрацию заведений.</a:t>
            </a:r>
          </a:p>
          <a:p>
            <a:r>
              <a:rPr lang="ru-RU" sz="2800" dirty="0"/>
              <a:t>4. Цены значительно варьируются в зависимости от района и категории.</a:t>
            </a:r>
          </a:p>
          <a:p>
            <a:r>
              <a:rPr lang="ru-RU" sz="2800" dirty="0"/>
              <a:t>5. Сетевые заведения составляют значительную часть рынка.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76823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255F9A-9FDF-0A46-828D-B6B31384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ДЛЯ ИНВЕСТОРОВ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912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975A1-EE33-DB01-21EC-729CFD8B7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466" y="1878008"/>
            <a:ext cx="10475871" cy="3101983"/>
          </a:xfrm>
        </p:spPr>
        <p:txBody>
          <a:bodyPr>
            <a:normAutofit/>
          </a:bodyPr>
          <a:lstStyle/>
          <a:p>
            <a:r>
              <a:rPr lang="ru-RU" sz="2400" dirty="0"/>
              <a:t>1. Для нового заведения стоит рассмотреть районы с высокой проходимостью.</a:t>
            </a:r>
          </a:p>
          <a:p>
            <a:r>
              <a:rPr lang="ru-RU" sz="2400" dirty="0"/>
              <a:t>2. При выборе категории важно учитывать локальные предпочтения.</a:t>
            </a:r>
          </a:p>
          <a:p>
            <a:r>
              <a:rPr lang="ru-RU" sz="2400" dirty="0"/>
              <a:t>3. Ценовая политика должна соответствовать району расположения.</a:t>
            </a:r>
          </a:p>
          <a:p>
            <a:r>
              <a:rPr lang="ru-RU" sz="2400" dirty="0"/>
              <a:t>4. Уникальная концепция может стать конкурентным преимуществом.</a:t>
            </a:r>
          </a:p>
          <a:p>
            <a:r>
              <a:rPr lang="ru-RU" sz="2400" dirty="0"/>
              <a:t>5. Сетевой формат имеет преимущества, но требует больше инвестиций.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2617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4D7C-D29D-18ED-9616-8D5D26E2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ОТКРЫТИЯ КОФЕЙНИ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5A218-432A-06DF-7501-5540C07B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Рассмотреть районы: Хамовники, Таганский, Басманный.</a:t>
            </a:r>
          </a:p>
          <a:p>
            <a:r>
              <a:rPr lang="ru-RU" dirty="0"/>
              <a:t>2. Цена капучино: 250-350 рублей.</a:t>
            </a:r>
          </a:p>
          <a:p>
            <a:r>
              <a:rPr lang="ru-RU" dirty="0"/>
              <a:t>3. Количество мест: 20-40.</a:t>
            </a:r>
          </a:p>
          <a:p>
            <a:r>
              <a:rPr lang="ru-RU" dirty="0"/>
              <a:t>4. Акцент на качественный кофе и атмосферу.</a:t>
            </a:r>
          </a:p>
          <a:p>
            <a:r>
              <a:rPr lang="ru-RU" dirty="0"/>
              <a:t>5. Рассмотреть возможность работы допоздна или круглосуточно.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2232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33</TotalTime>
  <Words>571</Words>
  <Application>Microsoft Macintosh PowerPoint</Application>
  <PresentationFormat>Widescreen</PresentationFormat>
  <Paragraphs>82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Gill Sans MT</vt:lpstr>
      <vt:lpstr>Parcel</vt:lpstr>
      <vt:lpstr>Рынок заведений общественного питания Москвы </vt:lpstr>
      <vt:lpstr>PowerPoint Presentation</vt:lpstr>
      <vt:lpstr>Цель проекта</vt:lpstr>
      <vt:lpstr>Ключевые задачи исследования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КЛЮЧЕВЫЕ МЕТРИКИ</vt:lpstr>
      <vt:lpstr>ТОП-5 КАТЕГОРИЙ</vt:lpstr>
      <vt:lpstr>ТОП-5 РАЙОНОВ</vt:lpstr>
      <vt:lpstr>АНАЛИЗ ДЛЯ КОФЕЕН</vt:lpstr>
      <vt:lpstr>PowerPoint Presentation</vt:lpstr>
      <vt:lpstr>PowerPoint Presentation</vt:lpstr>
      <vt:lpstr>Детальный анализ рынка кофеен Москвы</vt:lpstr>
      <vt:lpstr>PowerPoint Presentation</vt:lpstr>
      <vt:lpstr>PowerPoint Presentation</vt:lpstr>
      <vt:lpstr>ОСНОВНЫЕ ВЫВОДЫ</vt:lpstr>
      <vt:lpstr>PowerPoint Presentation</vt:lpstr>
      <vt:lpstr>РЕКОМЕНДАЦИИ ДЛЯ ИНВЕСТОРОВ</vt:lpstr>
      <vt:lpstr>PowerPoint Presentation</vt:lpstr>
      <vt:lpstr>ДЛЯ ОТКРЫТИЯ КОФЕЙНИ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</dc:creator>
  <cp:lastModifiedBy>phil</cp:lastModifiedBy>
  <cp:revision>16</cp:revision>
  <dcterms:created xsi:type="dcterms:W3CDTF">2025-12-09T13:21:46Z</dcterms:created>
  <dcterms:modified xsi:type="dcterms:W3CDTF">2026-01-06T12:01:07Z</dcterms:modified>
</cp:coreProperties>
</file>