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9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82" r:id="rId21"/>
    <p:sldId id="266" r:id="rId22"/>
    <p:sldId id="283" r:id="rId23"/>
    <p:sldId id="267" r:id="rId24"/>
    <p:sldId id="26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EE681-5E0D-BD63-D15C-786AA21B08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BD8754-D4EF-B75C-090A-790B2C1501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F513D-CA60-78FC-D030-9AA91786C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E92C7A-BF6F-7C2F-47DB-877391EA6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60C829-EB2E-5F01-EA1E-1E17A5DD7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544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005FC-AA60-7AA1-D9C6-D23D10E5E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DDF24-823B-28C2-E1F4-608F942E77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0BA5BC-452A-87C6-A947-4EA76B163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42B675-2A9F-8650-377B-BC3B2837E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C0C39-2DB1-7F1B-C1AE-542EA3E3C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98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9D7A4-8210-7A75-F88A-13D8A990BC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3D17FD-DF42-B97D-0E46-4D650B06E8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22A90E-0FE5-6E25-1FB6-BA9EBA786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2456A6-EE16-A95E-DB08-F01FC6BB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A653A-72C0-9433-A930-6CD18DD9EB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6685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416B0-5A84-93ED-82B9-0D9B7B1B2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0318B-DC8C-6D38-0487-5C0E78F8DD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CAF71-60BE-9426-10C7-0326FD6B58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8387E6-AE6E-07AB-93AC-399D8F8A7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2C7BEB-C37D-B75B-2862-598B42F57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3B0554-A1F6-0390-7BA0-C26695ED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03885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31CA8-031A-6094-9722-4C3B81D1C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F2EC21-5B78-9826-018E-0D4D3E611A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5F4A79-04A6-D0A1-D106-CD6BB897F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73ECB5-92FE-4418-878D-9D2EEF77EB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FE5409-814B-5B27-908B-E5EE377B81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2B9A59-8C81-ED5B-5AAB-889D898BD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ACC451-71DB-3A47-B477-0EA9EBFAA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5CFC22E-6AA8-AE01-B298-5B4550AE0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82405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2A2EC-8E5D-60A3-7BA9-04460F765C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AB77A8-DC83-71C4-2AF0-FB9D8F76F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E4AF62-E386-665C-3F14-659E9E63D4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A85D04-F778-29E5-4D36-1E60A8A8F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952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D41B88-1235-4EB6-66EA-C57DEF223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95EB61-0EB3-1F38-6B49-2B46263F5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F05FC-421D-FA74-FF92-43D9601A6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352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2ED7C-E957-970A-D23C-153882B57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72783E-EF81-1883-B2DA-00B253B40C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AB4839-E17F-780D-B977-776D41993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F83E8D-A55E-1365-1091-9F8A6CDF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1738FA-CA04-7F31-28BA-162260C75C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7A0F7A-5801-EE0B-D385-E3685D9CC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9871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D885B-B0CB-43F2-422D-00D318042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2302F9-1C33-FAED-4FC9-DA0C3BFFFE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4F3656-910C-0BBB-CC67-6C5F64F355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49BB16-6CF1-C3EA-50F7-B2122CA8D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9DE4E1-4A72-DF38-7635-FC3A9B569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8E9553-FB49-2A6E-9665-C73AF21B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7473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8E1B3-A982-FDAF-7A7C-2B2655596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ECEC66-8604-1BFF-5C03-D3EB90C220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EA7F7-2A96-B1E9-DA05-C54B88AFDC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F0A29C-49F3-7730-C55B-0BD231AC3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1D8102-9F11-FF39-8C9D-E66EA411A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684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5CA448-0510-F8AA-492F-ED11B54FFE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0979C5-151C-5ED3-F6FB-376593B565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31CF4-89C0-0C84-346A-3B3213068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D7635D-5716-2149-87AF-1F135607E50F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F35BEF-722E-B81C-26E0-9583A13C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21618-3CC8-C485-B37C-9740C64FA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878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49C4DF-AE38-1FE4-015F-BE95B22A9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4F55C7-D452-1A08-9EDE-50071E74D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B14215-24E1-24BB-FF05-D1744F3E2B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D7635D-5716-2149-87AF-1F135607E50F}" type="datetimeFigureOut">
              <a:rPr lang="en-US" smtClean="0"/>
              <a:t>1/6/26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E9AE6-2DF1-A399-DC2B-D68F14EEBD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437CFF-9322-CA8F-DA13-2051C38F7E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235A8B-722B-4E49-A4B3-7B27B73CD3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5107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DB49F-7475-0FE2-24C2-C6524B291B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80320"/>
            <a:ext cx="9144000" cy="3806989"/>
          </a:xfrm>
        </p:spPr>
        <p:txBody>
          <a:bodyPr>
            <a:normAutofit/>
          </a:bodyPr>
          <a:lstStyle/>
          <a:p>
            <a:r>
              <a:rPr lang="ru-RU" b="1" dirty="0"/>
              <a:t>Рынок заведений общественного питания Москвы</a:t>
            </a:r>
            <a:br>
              <a:rPr lang="ru-RU" b="1" dirty="0"/>
            </a:b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FB90D2-21D1-BED5-645D-D3D681FCE2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20000" y="5989638"/>
            <a:ext cx="4572000" cy="591590"/>
          </a:xfrm>
        </p:spPr>
        <p:txBody>
          <a:bodyPr/>
          <a:lstStyle/>
          <a:p>
            <a:r>
              <a:rPr lang="ru-RU" dirty="0"/>
              <a:t>Рощин Филипп Андреевич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72861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C4B9DCB-34DA-D924-EFD0-4F0EDD69DDFE}"/>
              </a:ext>
            </a:extLst>
          </p:cNvPr>
          <p:cNvSpPr txBox="1"/>
          <p:nvPr/>
        </p:nvSpPr>
        <p:spPr>
          <a:xfrm>
            <a:off x="2939526" y="2782669"/>
            <a:ext cx="63129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 err="1"/>
              <a:t>Цели</a:t>
            </a:r>
            <a:r>
              <a:rPr lang="en-US" sz="3600" dirty="0"/>
              <a:t> </a:t>
            </a:r>
            <a:r>
              <a:rPr lang="en-US" sz="3600" dirty="0" err="1"/>
              <a:t>и</a:t>
            </a:r>
            <a:r>
              <a:rPr lang="en-US" sz="3600" dirty="0"/>
              <a:t> </a:t>
            </a:r>
            <a:r>
              <a:rPr lang="en-US" sz="3600" dirty="0" err="1"/>
              <a:t>задачи</a:t>
            </a:r>
            <a:r>
              <a:rPr lang="en-US" sz="3600" dirty="0"/>
              <a:t> </a:t>
            </a:r>
            <a:r>
              <a:rPr lang="en-US" sz="3600" dirty="0" err="1"/>
              <a:t>исследования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951675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575B1-F1D0-D1AD-DDDE-0CFC55D5C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Цель</a:t>
            </a:r>
            <a:r>
              <a:rPr lang="en-US" dirty="0"/>
              <a:t> </a:t>
            </a:r>
            <a:r>
              <a:rPr lang="en-US" dirty="0" err="1"/>
              <a:t>проекта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C55779-7DFB-3F86-52BE-2D9667ADE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Провести</a:t>
            </a:r>
            <a:r>
              <a:rPr lang="en-US" dirty="0"/>
              <a:t> </a:t>
            </a:r>
            <a:r>
              <a:rPr lang="en-US" dirty="0" err="1"/>
              <a:t>комплексный</a:t>
            </a:r>
            <a:r>
              <a:rPr lang="en-US" dirty="0"/>
              <a:t>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рынка</a:t>
            </a:r>
            <a:r>
              <a:rPr lang="en-US" dirty="0"/>
              <a:t> </a:t>
            </a:r>
            <a:r>
              <a:rPr lang="en-US" dirty="0" err="1"/>
              <a:t>общественного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Москвы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обоснованных</a:t>
            </a:r>
            <a:r>
              <a:rPr lang="en-US" dirty="0"/>
              <a:t> </a:t>
            </a:r>
            <a:r>
              <a:rPr lang="en-US" dirty="0" err="1"/>
              <a:t>рекомендаций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открытию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заведения</a:t>
            </a:r>
            <a:r>
              <a:rPr lang="en-US" dirty="0"/>
              <a:t>, </a:t>
            </a:r>
            <a:r>
              <a:rPr lang="en-US" dirty="0" err="1"/>
              <a:t>соответствующего</a:t>
            </a:r>
            <a:r>
              <a:rPr lang="en-US" dirty="0"/>
              <a:t> </a:t>
            </a:r>
            <a:r>
              <a:rPr lang="en-US" dirty="0" err="1"/>
              <a:t>требованиям</a:t>
            </a:r>
            <a:r>
              <a:rPr lang="en-US" dirty="0"/>
              <a:t> </a:t>
            </a:r>
            <a:r>
              <a:rPr lang="en-US" dirty="0" err="1"/>
              <a:t>инвесторов</a:t>
            </a:r>
            <a:r>
              <a:rPr lang="en-US" dirty="0"/>
              <a:t> </a:t>
            </a:r>
            <a:r>
              <a:rPr lang="en-US" dirty="0" err="1"/>
              <a:t>фонда</a:t>
            </a:r>
            <a:r>
              <a:rPr lang="en-US" dirty="0"/>
              <a:t> «Shut Up and Take My Money»</a:t>
            </a:r>
          </a:p>
        </p:txBody>
      </p:sp>
    </p:spTree>
    <p:extLst>
      <p:ext uri="{BB962C8B-B14F-4D97-AF65-F5344CB8AC3E}">
        <p14:creationId xmlns:p14="http://schemas.microsoft.com/office/powerpoint/2010/main" val="13676989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00B65-49BA-89FB-B25D-CD20F9A6F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Ключевые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 </a:t>
            </a:r>
            <a:r>
              <a:rPr lang="en-US" dirty="0" err="1"/>
              <a:t>исследования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353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2F3F1-BD6A-AEAC-964F-B2E35212C8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1.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рынка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Изучить</a:t>
            </a:r>
            <a:r>
              <a:rPr lang="en-US" dirty="0"/>
              <a:t> </a:t>
            </a:r>
            <a:r>
              <a:rPr lang="en-US" dirty="0" err="1"/>
              <a:t>структуру</a:t>
            </a:r>
            <a:r>
              <a:rPr lang="en-US" dirty="0"/>
              <a:t> </a:t>
            </a:r>
            <a:r>
              <a:rPr lang="en-US" dirty="0" err="1"/>
              <a:t>рынка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категориям</a:t>
            </a:r>
            <a:r>
              <a:rPr lang="en-US" dirty="0"/>
              <a:t> </a:t>
            </a:r>
            <a:r>
              <a:rPr lang="en-US" dirty="0" err="1"/>
              <a:t>заведений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Проанализировать</a:t>
            </a:r>
            <a:r>
              <a:rPr lang="en-US" dirty="0"/>
              <a:t> </a:t>
            </a:r>
            <a:r>
              <a:rPr lang="en-US" dirty="0" err="1"/>
              <a:t>географическое</a:t>
            </a:r>
            <a:r>
              <a:rPr lang="en-US" dirty="0"/>
              <a:t> </a:t>
            </a:r>
            <a:r>
              <a:rPr lang="en-US" dirty="0" err="1"/>
              <a:t>распределение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конкуренции</a:t>
            </a:r>
            <a:r>
              <a:rPr lang="en-US" dirty="0"/>
              <a:t> </a:t>
            </a:r>
            <a:r>
              <a:rPr lang="en-US" dirty="0" err="1"/>
              <a:t>в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сегментах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3792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545FB-4F22-1FDB-6DDE-F9D215232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2. </a:t>
            </a:r>
            <a:r>
              <a:rPr lang="en-US" dirty="0" err="1"/>
              <a:t>Исследование</a:t>
            </a:r>
            <a:r>
              <a:rPr lang="en-US" dirty="0"/>
              <a:t> </a:t>
            </a:r>
            <a:r>
              <a:rPr lang="en-US" dirty="0" err="1"/>
              <a:t>ценовой</a:t>
            </a:r>
            <a:r>
              <a:rPr lang="en-US" dirty="0"/>
              <a:t> </a:t>
            </a:r>
            <a:r>
              <a:rPr lang="en-US" dirty="0" err="1"/>
              <a:t>политики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Проанализировать</a:t>
            </a:r>
            <a:r>
              <a:rPr lang="en-US" dirty="0"/>
              <a:t> </a:t>
            </a:r>
            <a:r>
              <a:rPr lang="en-US" dirty="0" err="1"/>
              <a:t>средние</a:t>
            </a:r>
            <a:r>
              <a:rPr lang="en-US" dirty="0"/>
              <a:t> </a:t>
            </a:r>
            <a:r>
              <a:rPr lang="en-US" dirty="0" err="1"/>
              <a:t>чеки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районам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Выявить</a:t>
            </a:r>
            <a:r>
              <a:rPr lang="en-US" dirty="0"/>
              <a:t> </a:t>
            </a:r>
            <a:r>
              <a:rPr lang="en-US" dirty="0" err="1"/>
              <a:t>зависимость</a:t>
            </a:r>
            <a:r>
              <a:rPr lang="en-US" dirty="0"/>
              <a:t> </a:t>
            </a:r>
            <a:r>
              <a:rPr lang="en-US" dirty="0" err="1"/>
              <a:t>цен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локации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оптимальные</a:t>
            </a:r>
            <a:r>
              <a:rPr lang="en-US" dirty="0"/>
              <a:t> </a:t>
            </a:r>
            <a:r>
              <a:rPr lang="en-US" dirty="0" err="1"/>
              <a:t>ценовые</a:t>
            </a:r>
            <a:r>
              <a:rPr lang="en-US" dirty="0"/>
              <a:t> </a:t>
            </a:r>
            <a:r>
              <a:rPr lang="en-US" dirty="0" err="1"/>
              <a:t>сегменты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0710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4305FC-F6A9-C783-6CE8-8D0756BE51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3. </a:t>
            </a:r>
            <a:r>
              <a:rPr lang="en-US" dirty="0" err="1"/>
              <a:t>Оценка</a:t>
            </a:r>
            <a:r>
              <a:rPr lang="en-US" dirty="0"/>
              <a:t> </a:t>
            </a:r>
            <a:r>
              <a:rPr lang="en-US" dirty="0" err="1"/>
              <a:t>качества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рейтингов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Изучить</a:t>
            </a:r>
            <a:r>
              <a:rPr lang="en-US" dirty="0"/>
              <a:t> </a:t>
            </a:r>
            <a:r>
              <a:rPr lang="en-US" dirty="0" err="1"/>
              <a:t>распределение</a:t>
            </a:r>
            <a:r>
              <a:rPr lang="en-US" dirty="0"/>
              <a:t> </a:t>
            </a:r>
            <a:r>
              <a:rPr lang="en-US" dirty="0" err="1"/>
              <a:t>рейтингов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категориям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Выявить</a:t>
            </a:r>
            <a:r>
              <a:rPr lang="en-US" dirty="0"/>
              <a:t> </a:t>
            </a:r>
            <a:r>
              <a:rPr lang="en-US" dirty="0" err="1"/>
              <a:t>факторы</a:t>
            </a:r>
            <a:r>
              <a:rPr lang="en-US" dirty="0"/>
              <a:t> </a:t>
            </a:r>
            <a:r>
              <a:rPr lang="en-US" dirty="0" err="1"/>
              <a:t>успешных</a:t>
            </a:r>
            <a:r>
              <a:rPr lang="en-US" dirty="0"/>
              <a:t> </a:t>
            </a:r>
            <a:r>
              <a:rPr lang="en-US" dirty="0" err="1"/>
              <a:t>заведений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Сравнить</a:t>
            </a:r>
            <a:r>
              <a:rPr lang="en-US" dirty="0"/>
              <a:t> </a:t>
            </a:r>
            <a:r>
              <a:rPr lang="en-US" dirty="0" err="1"/>
              <a:t>сетевые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форматы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6333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61D16-012F-CA0C-C7C9-657125C9E6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4. </a:t>
            </a:r>
            <a:r>
              <a:rPr lang="en-US" dirty="0" err="1"/>
              <a:t>Специализированный</a:t>
            </a:r>
            <a:r>
              <a:rPr lang="en-US" dirty="0"/>
              <a:t>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кофеен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Оценить</a:t>
            </a:r>
            <a:r>
              <a:rPr lang="en-US" dirty="0"/>
              <a:t> </a:t>
            </a:r>
            <a:r>
              <a:rPr lang="en-US" dirty="0" err="1"/>
              <a:t>потенциал</a:t>
            </a:r>
            <a:r>
              <a:rPr lang="en-US" dirty="0"/>
              <a:t> </a:t>
            </a:r>
            <a:r>
              <a:rPr lang="en-US" dirty="0" err="1"/>
              <a:t>открытия</a:t>
            </a:r>
            <a:r>
              <a:rPr lang="en-US" dirty="0"/>
              <a:t> </a:t>
            </a:r>
            <a:r>
              <a:rPr lang="en-US" dirty="0" err="1"/>
              <a:t>кофейни</a:t>
            </a:r>
            <a:r>
              <a:rPr lang="en-US" dirty="0"/>
              <a:t> </a:t>
            </a:r>
            <a:r>
              <a:rPr lang="en-US" dirty="0" err="1"/>
              <a:t>в</a:t>
            </a:r>
            <a:r>
              <a:rPr lang="en-US" dirty="0"/>
              <a:t> </a:t>
            </a:r>
            <a:r>
              <a:rPr lang="en-US" dirty="0" err="1"/>
              <a:t>стиле</a:t>
            </a:r>
            <a:r>
              <a:rPr lang="en-US" dirty="0"/>
              <a:t> «Central Perk»</a:t>
            </a:r>
          </a:p>
          <a:p>
            <a:r>
              <a:rPr lang="en-US" dirty="0"/>
              <a:t>- </a:t>
            </a:r>
            <a:r>
              <a:rPr lang="en-US" dirty="0" err="1"/>
              <a:t>Проанализировать</a:t>
            </a:r>
            <a:r>
              <a:rPr lang="en-US" dirty="0"/>
              <a:t> </a:t>
            </a:r>
            <a:r>
              <a:rPr lang="en-US" dirty="0" err="1"/>
              <a:t>конкурентную</a:t>
            </a:r>
            <a:r>
              <a:rPr lang="en-US" dirty="0"/>
              <a:t> </a:t>
            </a:r>
            <a:r>
              <a:rPr lang="en-US" dirty="0" err="1"/>
              <a:t>среду</a:t>
            </a:r>
            <a:r>
              <a:rPr lang="en-US" dirty="0"/>
              <a:t> </a:t>
            </a:r>
            <a:r>
              <a:rPr lang="en-US" dirty="0" err="1"/>
              <a:t>кофейного</a:t>
            </a:r>
            <a:r>
              <a:rPr lang="en-US" dirty="0"/>
              <a:t> </a:t>
            </a:r>
            <a:r>
              <a:rPr lang="en-US" dirty="0" err="1"/>
              <a:t>сегмента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оптимальные</a:t>
            </a:r>
            <a:r>
              <a:rPr lang="en-US" dirty="0"/>
              <a:t> </a:t>
            </a:r>
            <a:r>
              <a:rPr lang="en-US" dirty="0" err="1"/>
              <a:t>локации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ценовую</a:t>
            </a:r>
            <a:r>
              <a:rPr lang="en-US" dirty="0"/>
              <a:t> </a:t>
            </a:r>
            <a:r>
              <a:rPr lang="en-US" dirty="0" err="1"/>
              <a:t>политику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43751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6A7144-B8C6-E580-A491-ADC33A6899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5. </a:t>
            </a:r>
            <a:r>
              <a:rPr lang="en-US" dirty="0" err="1"/>
              <a:t>Разработка</a:t>
            </a:r>
            <a:r>
              <a:rPr lang="en-US" dirty="0"/>
              <a:t> </a:t>
            </a:r>
            <a:r>
              <a:rPr lang="en-US" dirty="0" err="1"/>
              <a:t>практических</a:t>
            </a:r>
            <a:r>
              <a:rPr lang="en-US" dirty="0"/>
              <a:t> </a:t>
            </a:r>
            <a:r>
              <a:rPr lang="en-US" dirty="0" err="1"/>
              <a:t>рекомендаций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Сформировать</a:t>
            </a:r>
            <a:r>
              <a:rPr lang="en-US" dirty="0"/>
              <a:t> </a:t>
            </a:r>
            <a:r>
              <a:rPr lang="en-US" dirty="0" err="1"/>
              <a:t>конкретные</a:t>
            </a:r>
            <a:r>
              <a:rPr lang="en-US" dirty="0"/>
              <a:t> </a:t>
            </a:r>
            <a:r>
              <a:rPr lang="en-US" dirty="0" err="1"/>
              <a:t>предложения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формату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концепции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Определить</a:t>
            </a:r>
            <a:r>
              <a:rPr lang="en-US" dirty="0"/>
              <a:t> </a:t>
            </a:r>
            <a:r>
              <a:rPr lang="en-US" dirty="0" err="1"/>
              <a:t>оптимальные</a:t>
            </a:r>
            <a:r>
              <a:rPr lang="en-US" dirty="0"/>
              <a:t> </a:t>
            </a:r>
            <a:r>
              <a:rPr lang="en-US" dirty="0" err="1"/>
              <a:t>параметры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заведения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Предложить</a:t>
            </a:r>
            <a:r>
              <a:rPr lang="en-US" dirty="0"/>
              <a:t> </a:t>
            </a:r>
            <a:r>
              <a:rPr lang="en-US" dirty="0" err="1"/>
              <a:t>план</a:t>
            </a:r>
            <a:r>
              <a:rPr lang="en-US" dirty="0"/>
              <a:t> </a:t>
            </a:r>
            <a:r>
              <a:rPr lang="en-US" dirty="0" err="1"/>
              <a:t>действий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  <a:r>
              <a:rPr lang="en-US" dirty="0" err="1"/>
              <a:t>проекта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84642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A418E5-4D5E-D50B-3BF0-A7FA7F5B4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Ожидаемые</a:t>
            </a:r>
            <a:r>
              <a:rPr lang="en-US" dirty="0"/>
              <a:t> </a:t>
            </a:r>
            <a:r>
              <a:rPr lang="en-US" dirty="0" err="1"/>
              <a:t>результаты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Презентация</a:t>
            </a:r>
            <a:r>
              <a:rPr lang="en-US" dirty="0"/>
              <a:t> </a:t>
            </a:r>
            <a:r>
              <a:rPr lang="en-US" dirty="0" err="1"/>
              <a:t>с</a:t>
            </a:r>
            <a:r>
              <a:rPr lang="en-US" dirty="0"/>
              <a:t> </a:t>
            </a:r>
            <a:r>
              <a:rPr lang="en-US" dirty="0" err="1"/>
              <a:t>аналитическими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рекомендациями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Конкретные</a:t>
            </a:r>
            <a:r>
              <a:rPr lang="en-US" dirty="0"/>
              <a:t> </a:t>
            </a:r>
            <a:r>
              <a:rPr lang="en-US" dirty="0" err="1"/>
              <a:t>предложения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локации</a:t>
            </a:r>
            <a:r>
              <a:rPr lang="en-US" dirty="0"/>
              <a:t>, </a:t>
            </a:r>
            <a:r>
              <a:rPr lang="en-US" dirty="0" err="1"/>
              <a:t>формату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ценообразованию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Пошаговый</a:t>
            </a:r>
            <a:r>
              <a:rPr lang="en-US" dirty="0"/>
              <a:t> </a:t>
            </a:r>
            <a:r>
              <a:rPr lang="en-US" dirty="0" err="1"/>
              <a:t>план</a:t>
            </a:r>
            <a:r>
              <a:rPr lang="en-US" dirty="0"/>
              <a:t> </a:t>
            </a:r>
            <a:r>
              <a:rPr lang="en-US" dirty="0" err="1"/>
              <a:t>открытия</a:t>
            </a:r>
            <a:r>
              <a:rPr lang="en-US" dirty="0"/>
              <a:t> </a:t>
            </a:r>
            <a:r>
              <a:rPr lang="en-US" dirty="0" err="1"/>
              <a:t>нового</a:t>
            </a:r>
            <a:r>
              <a:rPr lang="en-US" dirty="0"/>
              <a:t> </a:t>
            </a:r>
            <a:r>
              <a:rPr lang="en-US" dirty="0" err="1"/>
              <a:t>заведения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Оценка</a:t>
            </a:r>
            <a:r>
              <a:rPr lang="en-US" dirty="0"/>
              <a:t> </a:t>
            </a:r>
            <a:r>
              <a:rPr lang="en-US" dirty="0" err="1"/>
              <a:t>рисков</a:t>
            </a:r>
            <a:r>
              <a:rPr lang="en-US" dirty="0"/>
              <a:t> </a:t>
            </a:r>
            <a:r>
              <a:rPr lang="en-US" dirty="0" err="1"/>
              <a:t>и</a:t>
            </a:r>
            <a:r>
              <a:rPr lang="en-US" dirty="0"/>
              <a:t> </a:t>
            </a:r>
            <a:r>
              <a:rPr lang="en-US" dirty="0" err="1"/>
              <a:t>возможностей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московском</a:t>
            </a:r>
            <a:r>
              <a:rPr lang="en-US" dirty="0"/>
              <a:t> </a:t>
            </a:r>
            <a:r>
              <a:rPr lang="en-US" dirty="0" err="1"/>
              <a:t>рынке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7380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F0CC4-133F-5E42-252E-382774504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КЛЮЧЕВЫЕ МЕТРИКИ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0CE304-5A65-A9BA-5444-B7F449C1C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Общее количество заведений: 8406</a:t>
            </a:r>
          </a:p>
          <a:p>
            <a:r>
              <a:rPr lang="ru-RU" dirty="0"/>
              <a:t>Количество категорий: 8</a:t>
            </a:r>
          </a:p>
          <a:p>
            <a:r>
              <a:rPr lang="ru-RU" dirty="0"/>
              <a:t>Количество районов: 9</a:t>
            </a:r>
          </a:p>
          <a:p>
            <a:r>
              <a:rPr lang="ru-RU" dirty="0"/>
              <a:t>Доля сетевых заведений: 38.1%</a:t>
            </a:r>
          </a:p>
          <a:p>
            <a:r>
              <a:rPr lang="ru-RU" dirty="0"/>
              <a:t>Средний рейтинг: 4.23</a:t>
            </a:r>
          </a:p>
          <a:p>
            <a:r>
              <a:rPr lang="ru-RU" dirty="0"/>
              <a:t>Количество кофеен: 1413</a:t>
            </a:r>
          </a:p>
          <a:p>
            <a:r>
              <a:rPr lang="ru-RU" dirty="0"/>
              <a:t>Доля круглосуточных заведений: 13.5%</a:t>
            </a:r>
          </a:p>
          <a:p>
            <a:r>
              <a:rPr lang="ru-RU" dirty="0"/>
              <a:t>Среднее количество мест: 108 </a:t>
            </a:r>
            <a:br>
              <a:rPr lang="ru-RU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8989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F646E-33BD-04F3-8837-579188A6B5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ТОП-5 КАТЕГОРИЙ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7513FC-4206-D33B-53FE-7DE2D12A4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1. кафе: 2378 заведений (28.3%)</a:t>
            </a:r>
          </a:p>
          <a:p>
            <a:r>
              <a:rPr lang="ru-RU" dirty="0"/>
              <a:t>2. ресторан: 2043 заведений (24.3%)</a:t>
            </a:r>
          </a:p>
          <a:p>
            <a:r>
              <a:rPr lang="ru-RU" dirty="0"/>
              <a:t>3. кофейня: 1413 заведений (16.8%)</a:t>
            </a:r>
          </a:p>
          <a:p>
            <a:r>
              <a:rPr lang="ru-RU" dirty="0"/>
              <a:t>4. </a:t>
            </a:r>
            <a:r>
              <a:rPr lang="ru-RU" dirty="0" err="1"/>
              <a:t>бар,паб</a:t>
            </a:r>
            <a:r>
              <a:rPr lang="ru-RU" dirty="0"/>
              <a:t>: 765 заведений (9.1%)</a:t>
            </a:r>
          </a:p>
          <a:p>
            <a:r>
              <a:rPr lang="ru-RU" dirty="0"/>
              <a:t>5. пиццерия: 633 заведений (7.5%)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0804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3B505-7998-DB26-3D32-2A4205F6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ТОП-5 РАЙОНОВ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886C4-680E-2F6E-6918-86D8EDBCCB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1. Центральный административный округ: 2242</a:t>
            </a:r>
          </a:p>
          <a:p>
            <a:r>
              <a:rPr lang="ru-RU" dirty="0"/>
              <a:t>заведений 2. Северный административный округ: 900 заведений</a:t>
            </a:r>
          </a:p>
          <a:p>
            <a:r>
              <a:rPr lang="ru-RU" dirty="0"/>
              <a:t>3. Южный административный округ: 892 заведений</a:t>
            </a:r>
          </a:p>
          <a:p>
            <a:r>
              <a:rPr lang="ru-RU" dirty="0"/>
              <a:t>4. Северо-Восточный административный округ: 891 заведений</a:t>
            </a:r>
          </a:p>
          <a:p>
            <a:r>
              <a:rPr lang="ru-RU" dirty="0"/>
              <a:t>5. Западный административный округ: 851 заведений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424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83312-079B-DB28-3CC9-491CAA272E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ДЛЯ КОФЕЕН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E6497-4A9C-DAE8-9C84-297DF30034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Средняя цена капучино: 175 </a:t>
            </a:r>
            <a:r>
              <a:rPr lang="en-US" dirty="0"/>
              <a:t>₽</a:t>
            </a:r>
            <a:endParaRPr lang="ru-RU" dirty="0"/>
          </a:p>
          <a:p>
            <a:r>
              <a:rPr lang="ru-RU" dirty="0"/>
              <a:t>Медианная цена капучино: 170 </a:t>
            </a:r>
            <a:r>
              <a:rPr lang="en-US" dirty="0"/>
              <a:t>₽</a:t>
            </a:r>
            <a:endParaRPr lang="ru-RU" dirty="0"/>
          </a:p>
          <a:p>
            <a:r>
              <a:rPr lang="ru-RU" dirty="0"/>
              <a:t>Средний рейтинг кофеен: 4.28</a:t>
            </a:r>
          </a:p>
          <a:p>
            <a:r>
              <a:rPr lang="ru-RU" dirty="0"/>
              <a:t>Доля сетевых кофеен: 51.0%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6047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200E814-FCA0-8A68-AD3B-F872736EE9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261" y="1038831"/>
            <a:ext cx="11789403" cy="4668286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D383DBF-ECB8-2C30-C81D-C7564FD66D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6400" y="5707117"/>
            <a:ext cx="10515600" cy="4351338"/>
          </a:xfrm>
        </p:spPr>
        <p:txBody>
          <a:bodyPr/>
          <a:lstStyle/>
          <a:p>
            <a:r>
              <a:rPr lang="ru-RU" dirty="0"/>
              <a:t>В топ-10 категорий явно преобладают кафе (35 </a:t>
            </a:r>
            <a:r>
              <a:rPr lang="en-US" dirty="0"/>
              <a:t>% </a:t>
            </a:r>
            <a:r>
              <a:rPr lang="ru-RU" dirty="0"/>
              <a:t>рынка)</a:t>
            </a:r>
          </a:p>
          <a:p>
            <a:r>
              <a:rPr lang="ru-RU" dirty="0"/>
              <a:t>Топ-3 – кафе, рестораны и кофейни</a:t>
            </a:r>
          </a:p>
        </p:txBody>
      </p:sp>
    </p:spTree>
    <p:extLst>
      <p:ext uri="{BB962C8B-B14F-4D97-AF65-F5344CB8AC3E}">
        <p14:creationId xmlns:p14="http://schemas.microsoft.com/office/powerpoint/2010/main" val="388109765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B09E531-FC18-6DC9-344B-6E25C062D5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961" y="1382400"/>
            <a:ext cx="11780077" cy="4387780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8398DA1-7132-3009-A0CE-EE8B493479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7386" y="5770180"/>
            <a:ext cx="10515600" cy="4351338"/>
          </a:xfrm>
        </p:spPr>
        <p:txBody>
          <a:bodyPr/>
          <a:lstStyle/>
          <a:p>
            <a:r>
              <a:rPr lang="ru-RU" dirty="0"/>
              <a:t>Более 2000 заведений имеют средний чек до 1000 </a:t>
            </a:r>
            <a:r>
              <a:rPr lang="ru-RU" dirty="0" err="1"/>
              <a:t>руб</a:t>
            </a:r>
            <a:endParaRPr lang="ru-RU" dirty="0"/>
          </a:p>
          <a:p>
            <a:r>
              <a:rPr lang="ru-RU" dirty="0"/>
              <a:t>Самые дорогие заведения расположены в ЗАО и ЦАО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11490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0B99E-240E-BA97-0F4A-C331A5B56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Детальный анализ рынка кофеен Москвы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75008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with a bar graph&#10;&#10;AI-generated content may be incorrect.">
            <a:extLst>
              <a:ext uri="{FF2B5EF4-FFF2-40B4-BE49-F238E27FC236}">
                <a16:creationId xmlns:a16="http://schemas.microsoft.com/office/drawing/2014/main" id="{F757F8BD-E723-7E59-B49C-A84979D75F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061" y="1341535"/>
            <a:ext cx="11559878" cy="4174930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44433CCA-D5A3-B327-6C28-F000590C7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04242" y="6029763"/>
            <a:ext cx="10515600" cy="4351338"/>
          </a:xfrm>
        </p:spPr>
        <p:txBody>
          <a:bodyPr/>
          <a:lstStyle/>
          <a:p>
            <a:r>
              <a:rPr lang="ru-RU" dirty="0"/>
              <a:t>ЦАО впереди всех по количеству кофеен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1117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graph&#10;&#10;AI-generated content may be incorrect.">
            <a:extLst>
              <a:ext uri="{FF2B5EF4-FFF2-40B4-BE49-F238E27FC236}">
                <a16:creationId xmlns:a16="http://schemas.microsoft.com/office/drawing/2014/main" id="{602B6CC3-BBE5-000B-8405-179A0C3A97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024" y="997767"/>
            <a:ext cx="10727952" cy="4862466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FAC4712-A2AA-DAD7-1C43-0BAA767A9A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6400" y="6187418"/>
            <a:ext cx="10515600" cy="4351338"/>
          </a:xfrm>
        </p:spPr>
        <p:txBody>
          <a:bodyPr/>
          <a:lstStyle/>
          <a:p>
            <a:r>
              <a:rPr lang="ru-RU" dirty="0"/>
              <a:t>Примерно 200 кофеен имеют цену капучино в 170 </a:t>
            </a:r>
            <a:r>
              <a:rPr lang="ru-RU" dirty="0" err="1"/>
              <a:t>руб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0438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45261F94-C4AB-2307-4A90-C582EF93C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ОСНОВНЫЕ ВЫВОДЫ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1585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18946C-5DE9-CF75-B402-67DC1018CC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r>
              <a:rPr lang="ru-RU" dirty="0"/>
              <a:t>1. Рынок общественного питания Москвы разнообразен и конкурентен.</a:t>
            </a:r>
          </a:p>
          <a:p>
            <a:r>
              <a:rPr lang="ru-RU" dirty="0"/>
              <a:t>2. Наибольшую долю занимают кафе, рестораны и кофейни.</a:t>
            </a:r>
          </a:p>
          <a:p>
            <a:r>
              <a:rPr lang="ru-RU" dirty="0"/>
              <a:t>3. Центральные районы имеют наибольшую концентрацию заведений.</a:t>
            </a:r>
          </a:p>
          <a:p>
            <a:r>
              <a:rPr lang="ru-RU" dirty="0"/>
              <a:t>4. Цены значительно варьируются в зависимости от района и категории.</a:t>
            </a:r>
          </a:p>
          <a:p>
            <a:r>
              <a:rPr lang="ru-RU" dirty="0"/>
              <a:t>5. Сетевые заведения составляют значительную часть рынка.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68230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50255F9A-9FDF-0A46-828D-B6B3138407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РЕКОМЕНДАЦИИ ДЛЯ ИНВЕСТОРОВ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09126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9975A1-EE33-DB01-21EC-729CFD8B7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1. Для нового заведения стоит рассмотреть районы с высокой проходимостью.</a:t>
            </a:r>
          </a:p>
          <a:p>
            <a:r>
              <a:rPr lang="ru-RU" dirty="0"/>
              <a:t>2. При выборе категории важно учитывать локальные предпочтения.</a:t>
            </a:r>
          </a:p>
          <a:p>
            <a:r>
              <a:rPr lang="ru-RU" dirty="0"/>
              <a:t>3. Ценовая политика должна соответствовать району расположения.</a:t>
            </a:r>
          </a:p>
          <a:p>
            <a:r>
              <a:rPr lang="ru-RU" dirty="0"/>
              <a:t>4. Уникальная концепция может стать конкурентным преимуществом.</a:t>
            </a:r>
          </a:p>
          <a:p>
            <a:r>
              <a:rPr lang="ru-RU" dirty="0"/>
              <a:t>5. Сетевой формат имеет преимущества, но требует больше инвестиций.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26179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34D7C-D29D-18ED-9616-8D5D26E24D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ДЛЯ ОТКРЫТИЯ КОФЕЙНИ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5A218-432A-06DF-7501-5540C07BF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1. Рассмотреть районы: Хамовники, Таганский, Басманный.</a:t>
            </a:r>
          </a:p>
          <a:p>
            <a:r>
              <a:rPr lang="ru-RU" dirty="0"/>
              <a:t>2. Цена капучино: 250-350 рублей.</a:t>
            </a:r>
          </a:p>
          <a:p>
            <a:r>
              <a:rPr lang="ru-RU" dirty="0"/>
              <a:t>3. Количество мест: 20-40.</a:t>
            </a:r>
          </a:p>
          <a:p>
            <a:r>
              <a:rPr lang="ru-RU" dirty="0"/>
              <a:t>4. Акцент на качественный кофе и атмосферу.</a:t>
            </a:r>
          </a:p>
          <a:p>
            <a:r>
              <a:rPr lang="ru-RU" dirty="0"/>
              <a:t>5. Рассмотреть возможность работы допоздна или круглосуточно.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31223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571</Words>
  <Application>Microsoft Macintosh PowerPoint</Application>
  <PresentationFormat>Widescreen</PresentationFormat>
  <Paragraphs>82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Рынок заведений общественного питания Москвы </vt:lpstr>
      <vt:lpstr>PowerPoint Presentation</vt:lpstr>
      <vt:lpstr>Цель проекта</vt:lpstr>
      <vt:lpstr>Ключевые задачи исследования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КЛЮЧЕВЫЕ МЕТРИКИ</vt:lpstr>
      <vt:lpstr>ТОП-5 КАТЕГОРИЙ</vt:lpstr>
      <vt:lpstr>ТОП-5 РАЙОНОВ</vt:lpstr>
      <vt:lpstr>АНАЛИЗ ДЛЯ КОФЕЕН</vt:lpstr>
      <vt:lpstr>PowerPoint Presentation</vt:lpstr>
      <vt:lpstr>PowerPoint Presentation</vt:lpstr>
      <vt:lpstr>Детальный анализ рынка кофеен Москвы</vt:lpstr>
      <vt:lpstr>PowerPoint Presentation</vt:lpstr>
      <vt:lpstr>PowerPoint Presentation</vt:lpstr>
      <vt:lpstr>ОСНОВНЫЕ ВЫВОДЫ</vt:lpstr>
      <vt:lpstr>PowerPoint Presentation</vt:lpstr>
      <vt:lpstr>РЕКОМЕНДАЦИИ ДЛЯ ИНВЕСТОРОВ</vt:lpstr>
      <vt:lpstr>PowerPoint Presentation</vt:lpstr>
      <vt:lpstr>ДЛЯ ОТКРЫТИЯ КОФЕЙНИ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</dc:creator>
  <cp:lastModifiedBy>phil</cp:lastModifiedBy>
  <cp:revision>15</cp:revision>
  <dcterms:created xsi:type="dcterms:W3CDTF">2025-12-09T13:21:46Z</dcterms:created>
  <dcterms:modified xsi:type="dcterms:W3CDTF">2026-01-06T11:55:59Z</dcterms:modified>
</cp:coreProperties>
</file>